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7" autoAdjust="0"/>
    <p:restoredTop sz="59743" autoAdjust="0"/>
  </p:normalViewPr>
  <p:slideViewPr>
    <p:cSldViewPr snapToGrid="0" snapToObjects="1">
      <p:cViewPr varScale="1">
        <p:scale>
          <a:sx n="67" d="100"/>
          <a:sy n="67" d="100"/>
        </p:scale>
        <p:origin x="15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9676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Based on user-provided opening report content and assistant-generated diagrams/examples.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Based on user-provided opening report content and assistant-generated diagrams/examples.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618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Based on user-provided opening report content and assistant-generated diagrams/examples.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Based on user-provided opening report content and assistant-generated diagrams/examples.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Based on user-provided opening report content and assistant-generated diagrams/examples.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Based on user-provided opening report content and assistant-generated diagrams/examples.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Based on user-provided opening report content and assistant-generated diagrams/examples.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Based on user-provided opening report content and assistant-generated diagrams/examples.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Based on user-provided opening report content and assistant-generated diagrams/examples.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Based on user-provided opening report content and assistant-generated diagrams/examples.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Based on user-provided opening report content and assistant-generated diagrams/examples.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Based on user-provided opening report content and assistant-generated diagrams/examples.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Based on user-provided opening report content and assistant-generated diagrams/examples.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Based on user-provided opening report content and assistant-generated diagrams/examples.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3A63"/>
          </a:solidFill>
          <a:ln w="12700">
            <a:solidFill>
              <a:srgbClr val="173A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73A63"/>
          </a:solidFill>
          <a:ln w="12700">
            <a:solidFill>
              <a:srgbClr val="173A6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28232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793A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28232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793A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173A63"/>
          </a:solidFill>
          <a:ln w="12700">
            <a:solidFill>
              <a:srgbClr val="173A6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-914400"/>
            <a:ext cx="4206240" cy="420624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4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92440" y="1051560"/>
            <a:ext cx="3657600" cy="365760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932688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5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多模态驱动的</a:t>
            </a:r>
            <a:r>
              <a:rPr lang="zh-CN" altLang="en-US" sz="2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文献科学</a:t>
            </a:r>
            <a:r>
              <a:rPr lang="en-US" sz="245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数据自动提取与校验系统研究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39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开题汇报（详细技术路线版）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" y="312724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DFE9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围绕“解析—路由—抽取—校验—优化—入库”六个模块展开，并给出每个模块的输入、处理逻辑、输出与示例。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40080" y="4160520"/>
            <a:ext cx="1078992" cy="310896"/>
          </a:xfrm>
          <a:prstGeom prst="roundRect">
            <a:avLst>
              <a:gd name="adj" fmla="val 26471"/>
            </a:avLst>
          </a:prstGeom>
          <a:solidFill>
            <a:srgbClr val="2C6ECB"/>
          </a:solidFill>
          <a:ln w="12700">
            <a:solidFill>
              <a:srgbClr val="2C6EC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186123"/>
            <a:ext cx="1078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多模态解析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1810512" y="4160520"/>
            <a:ext cx="1005840" cy="310896"/>
          </a:xfrm>
          <a:prstGeom prst="roundRect">
            <a:avLst>
              <a:gd name="adj" fmla="val 26471"/>
            </a:avLst>
          </a:prstGeom>
          <a:solidFill>
            <a:srgbClr val="1A9D8F"/>
          </a:solidFill>
          <a:ln w="12700">
            <a:solidFill>
              <a:srgbClr val="1A9D8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10512" y="4186123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模板路由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2907792" y="4160520"/>
            <a:ext cx="1005840" cy="310896"/>
          </a:xfrm>
          <a:prstGeom prst="roundRect">
            <a:avLst>
              <a:gd name="adj" fmla="val 26471"/>
            </a:avLst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07792" y="4186123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分层校验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5102352" y="8686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汇报结构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138928" y="1188720"/>
            <a:ext cx="292608" cy="292608"/>
          </a:xfrm>
          <a:prstGeom prst="ellipse">
            <a:avLst/>
          </a:prstGeom>
          <a:solidFill>
            <a:srgbClr val="2C6ECB"/>
          </a:solidFill>
          <a:ln w="12700">
            <a:solidFill>
              <a:srgbClr val="2C6EC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8928" y="1234440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5513832" y="12161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研究背景与目标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138928" y="1755648"/>
            <a:ext cx="292608" cy="292608"/>
          </a:xfrm>
          <a:prstGeom prst="ellipse">
            <a:avLst/>
          </a:prstGeom>
          <a:solidFill>
            <a:srgbClr val="2C6ECB"/>
          </a:solidFill>
          <a:ln w="12700">
            <a:solidFill>
              <a:srgbClr val="2C6EC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38928" y="1801368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5513832" y="17830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总体技术路线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138928" y="2322576"/>
            <a:ext cx="292608" cy="292608"/>
          </a:xfrm>
          <a:prstGeom prst="ellipse">
            <a:avLst/>
          </a:prstGeom>
          <a:solidFill>
            <a:srgbClr val="2C6ECB"/>
          </a:solidFill>
          <a:ln w="12700">
            <a:solidFill>
              <a:srgbClr val="2C6EC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38928" y="2368296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5513832" y="23500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六个核心模块详解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138928" y="2889504"/>
            <a:ext cx="292608" cy="292608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38928" y="2935224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5513832" y="29169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创新点与预期成果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138928" y="3456432"/>
            <a:ext cx="292608" cy="292608"/>
          </a:xfrm>
          <a:prstGeom prst="ellipse">
            <a:avLst/>
          </a:prstGeom>
          <a:solidFill>
            <a:srgbClr val="1A9D8F"/>
          </a:solidFill>
          <a:ln w="12700">
            <a:solidFill>
              <a:srgbClr val="1A9D8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38928" y="350215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40" dirty="0"/>
          </a:p>
        </p:txBody>
      </p:sp>
      <p:sp>
        <p:nvSpPr>
          <p:cNvPr id="30" name="Text 28"/>
          <p:cNvSpPr/>
          <p:nvPr/>
        </p:nvSpPr>
        <p:spPr>
          <a:xfrm>
            <a:off x="5513832" y="348386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研究计划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818120" y="1051560"/>
            <a:ext cx="3749040" cy="1115568"/>
          </a:xfrm>
          <a:prstGeom prst="roundRect">
            <a:avLst>
              <a:gd name="adj" fmla="val 6557"/>
            </a:avLst>
          </a:prstGeom>
          <a:solidFill>
            <a:srgbClr val="EAF1FB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982712" y="1161288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本次重做重点</a:t>
            </a:r>
            <a:endParaRPr lang="en-US" sz="1340" dirty="0"/>
          </a:p>
        </p:txBody>
      </p:sp>
      <p:sp>
        <p:nvSpPr>
          <p:cNvPr id="33" name="Text 31"/>
          <p:cNvSpPr/>
          <p:nvPr/>
        </p:nvSpPr>
        <p:spPr>
          <a:xfrm>
            <a:off x="7982712" y="1417320"/>
            <a:ext cx="341985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1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将“技术路线”拆解为 6 个模块页，每个模块均给出：输入、处理逻辑、输出结果、示例说明。</a:t>
            </a:r>
            <a:endParaRPr lang="en-US" sz="1110" dirty="0"/>
          </a:p>
        </p:txBody>
      </p:sp>
      <p:sp>
        <p:nvSpPr>
          <p:cNvPr id="34" name="Shape 32"/>
          <p:cNvSpPr/>
          <p:nvPr/>
        </p:nvSpPr>
        <p:spPr>
          <a:xfrm>
            <a:off x="7818120" y="2395728"/>
            <a:ext cx="3749040" cy="1115568"/>
          </a:xfrm>
          <a:prstGeom prst="roundRect">
            <a:avLst>
              <a:gd name="adj" fmla="val 6557"/>
            </a:avLst>
          </a:prstGeom>
          <a:solidFill>
            <a:srgbClr val="FFF1E2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982712" y="2505456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9A5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答辩价值</a:t>
            </a:r>
            <a:endParaRPr lang="en-US" sz="1340" dirty="0"/>
          </a:p>
        </p:txBody>
      </p:sp>
      <p:sp>
        <p:nvSpPr>
          <p:cNvPr id="36" name="Text 34"/>
          <p:cNvSpPr/>
          <p:nvPr/>
        </p:nvSpPr>
        <p:spPr>
          <a:xfrm>
            <a:off x="7982712" y="2761488"/>
            <a:ext cx="341985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1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相比只展示总流程图，更便于回答“这个模块具体怎么做”“为什么这样设计”“怎么判断对不对”。</a:t>
            </a:r>
            <a:endParaRPr lang="en-US" sz="1110" dirty="0"/>
          </a:p>
        </p:txBody>
      </p:sp>
      <p:sp>
        <p:nvSpPr>
          <p:cNvPr id="37" name="Shape 35"/>
          <p:cNvSpPr/>
          <p:nvPr/>
        </p:nvSpPr>
        <p:spPr>
          <a:xfrm>
            <a:off x="7818120" y="3749040"/>
            <a:ext cx="3749040" cy="1115568"/>
          </a:xfrm>
          <a:prstGeom prst="roundRect">
            <a:avLst>
              <a:gd name="adj" fmla="val 6557"/>
            </a:avLst>
          </a:prstGeom>
          <a:solidFill>
            <a:srgbClr val="E7F7F4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982712" y="3858768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0E6C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建议讲法</a:t>
            </a:r>
            <a:endParaRPr lang="en-US" sz="1340" dirty="0"/>
          </a:p>
        </p:txBody>
      </p:sp>
      <p:sp>
        <p:nvSpPr>
          <p:cNvPr id="39" name="Text 37"/>
          <p:cNvSpPr/>
          <p:nvPr/>
        </p:nvSpPr>
        <p:spPr>
          <a:xfrm>
            <a:off x="7982712" y="4114800"/>
            <a:ext cx="341985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1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先讲总流程，再按模块讲“输入—处理—输出—例子”，最后回到创新点与系统价值。</a:t>
            </a:r>
            <a:endParaRPr lang="en-US" sz="1110" dirty="0"/>
          </a:p>
        </p:txBody>
      </p:sp>
      <p:sp>
        <p:nvSpPr>
          <p:cNvPr id="40" name="Text 38"/>
          <p:cNvSpPr/>
          <p:nvPr/>
        </p:nvSpPr>
        <p:spPr>
          <a:xfrm>
            <a:off x="5102352" y="6126480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C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关键词：复杂表格 · 跨页续表 · 完整性约束 · 分层校验 · 模板自演化 · 数据入库</a:t>
            </a:r>
            <a:endParaRPr lang="en-US" sz="10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92608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研究背景与意义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694944"/>
            <a:ext cx="868680" cy="73152"/>
          </a:xfrm>
          <a:prstGeom prst="roundRect">
            <a:avLst>
              <a:gd name="adj" fmla="val 37500"/>
            </a:avLst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347472"/>
            <a:ext cx="1115568" cy="256032"/>
          </a:xfrm>
          <a:prstGeom prst="roundRect">
            <a:avLst>
              <a:gd name="adj" fmla="val 28571"/>
            </a:avLst>
          </a:prstGeom>
          <a:solidFill>
            <a:srgbClr val="2C6ECB"/>
          </a:solidFill>
          <a:ln w="12700">
            <a:solidFill>
              <a:srgbClr val="2C6EC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61320" y="374904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3611880" cy="491870"/>
          </a:xfrm>
          <a:prstGeom prst="roundRect">
            <a:avLst>
              <a:gd name="adj" fmla="val 7273"/>
            </a:avLst>
          </a:prstGeom>
          <a:solidFill>
            <a:srgbClr val="EAF1FB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zh-CN" altLang="en-US" sz="6600" dirty="0">
              <a:solidFill>
                <a:srgbClr val="FF0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67512" y="1097280"/>
            <a:ext cx="3282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dirty="0">
                <a:solidFill>
                  <a:srgbClr val="FF0000"/>
                </a:solidFill>
              </a:rPr>
              <a:t>意义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91311" y="1698878"/>
            <a:ext cx="11268457" cy="47293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zh-CN" altLang="en-US" sz="2000" dirty="0"/>
              <a:t>科技观测数据不同于社会运行数据，在数字化转型背景条件下，通过数字化保存，具有如下特性：可复用、可流通、可累积、</a:t>
            </a:r>
            <a:r>
              <a:rPr lang="zh-CN" altLang="en-US" sz="2000" b="1" i="0" dirty="0">
                <a:solidFill>
                  <a:srgbClr val="0F1115"/>
                </a:solidFill>
                <a:effectLst/>
                <a:latin typeface="quote-cjk-patch"/>
              </a:rPr>
              <a:t>多源性、异构性、高维、海量等。往往不会失效，时效性很长。</a:t>
            </a:r>
            <a:endParaRPr lang="en-US" altLang="zh-CN" sz="2000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zh-CN" altLang="en-US" sz="2000" b="1" i="0" dirty="0">
                <a:solidFill>
                  <a:srgbClr val="0F1115"/>
                </a:solidFill>
                <a:effectLst/>
                <a:latin typeface="quote-cjk-patch"/>
              </a:rPr>
              <a:t>通常包括</a:t>
            </a:r>
            <a:endParaRPr lang="en-US" altLang="zh-CN" sz="2000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000" b="1" i="0" dirty="0">
                <a:solidFill>
                  <a:srgbClr val="0F1115"/>
                </a:solidFill>
                <a:effectLst/>
                <a:latin typeface="quote-cjk-patch"/>
              </a:rPr>
              <a:t>大气科学</a:t>
            </a:r>
            <a:r>
              <a:rPr lang="zh-CN" altLang="en-US" sz="2000" b="0" i="0" dirty="0">
                <a:solidFill>
                  <a:srgbClr val="0F1115"/>
                </a:solidFill>
                <a:effectLst/>
                <a:latin typeface="quote-cjk-patch"/>
              </a:rPr>
              <a:t>：气象（温、压、湿、风、降水等）、气候、大气成分（温室气体、气溶胶等）。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000" b="1" i="0" dirty="0">
                <a:solidFill>
                  <a:srgbClr val="0F1115"/>
                </a:solidFill>
                <a:effectLst/>
                <a:latin typeface="quote-cjk-patch"/>
              </a:rPr>
              <a:t>海洋科学</a:t>
            </a:r>
            <a:r>
              <a:rPr lang="zh-CN" altLang="en-US" sz="2000" b="0" i="0" dirty="0">
                <a:solidFill>
                  <a:srgbClr val="0F1115"/>
                </a:solidFill>
                <a:effectLst/>
                <a:latin typeface="quote-cjk-patch"/>
              </a:rPr>
              <a:t>：物理海洋（温度、盐度、海流、海浪）、海洋化学与生态、海洋地质与地球物理。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000" b="1" i="0" dirty="0">
                <a:solidFill>
                  <a:srgbClr val="0F1115"/>
                </a:solidFill>
                <a:effectLst/>
                <a:latin typeface="quote-cjk-patch"/>
              </a:rPr>
              <a:t>地球物理与空间科学</a:t>
            </a:r>
            <a:r>
              <a:rPr lang="zh-CN" altLang="en-US" sz="2000" b="0" i="0" dirty="0">
                <a:solidFill>
                  <a:srgbClr val="0F1115"/>
                </a:solidFill>
                <a:effectLst/>
                <a:latin typeface="quote-cjk-patch"/>
              </a:rPr>
              <a:t>：地磁、重力、地电、地下流体等，以及宇宙线、空间天气等。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000" b="1" i="0" dirty="0">
                <a:solidFill>
                  <a:srgbClr val="0F1115"/>
                </a:solidFill>
                <a:effectLst/>
                <a:latin typeface="quote-cjk-patch"/>
              </a:rPr>
              <a:t>生态与环境</a:t>
            </a:r>
            <a:r>
              <a:rPr lang="zh-CN" altLang="en-US" sz="2000" b="0" i="0" dirty="0">
                <a:solidFill>
                  <a:srgbClr val="0F1115"/>
                </a:solidFill>
                <a:effectLst/>
                <a:latin typeface="quote-cjk-patch"/>
              </a:rPr>
              <a:t>：生物多样性、植被覆盖、土地利用</a:t>
            </a:r>
            <a:r>
              <a:rPr lang="en-US" altLang="zh-CN" sz="2000" b="0" i="0" dirty="0">
                <a:solidFill>
                  <a:srgbClr val="0F1115"/>
                </a:solidFill>
                <a:effectLst/>
                <a:latin typeface="quote-cjk-patch"/>
              </a:rPr>
              <a:t>/</a:t>
            </a:r>
            <a:r>
              <a:rPr lang="zh-CN" altLang="en-US" sz="2000" b="0" i="0" dirty="0">
                <a:solidFill>
                  <a:srgbClr val="0F1115"/>
                </a:solidFill>
                <a:effectLst/>
                <a:latin typeface="quote-cjk-patch"/>
              </a:rPr>
              <a:t>覆盖变化、土壤、水环境、大气环境等。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000" b="1" i="0" dirty="0">
                <a:solidFill>
                  <a:srgbClr val="0F1115"/>
                </a:solidFill>
                <a:effectLst/>
                <a:latin typeface="quote-cjk-patch"/>
              </a:rPr>
              <a:t>对地观测与遥感</a:t>
            </a:r>
            <a:r>
              <a:rPr lang="zh-CN" altLang="en-US" sz="2000" b="0" i="0" dirty="0">
                <a:solidFill>
                  <a:srgbClr val="0F1115"/>
                </a:solidFill>
                <a:effectLst/>
                <a:latin typeface="quote-cjk-patch"/>
              </a:rPr>
              <a:t>：通过卫星、飞机等平台获取的多光谱、高光谱、雷达影像等。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000" b="1" i="0" dirty="0">
                <a:solidFill>
                  <a:srgbClr val="0F1115"/>
                </a:solidFill>
                <a:effectLst/>
                <a:latin typeface="quote-cjk-patch"/>
              </a:rPr>
              <a:t>农业</a:t>
            </a:r>
            <a:r>
              <a:rPr lang="zh-CN" altLang="en-US" sz="2000" b="0" i="0" dirty="0">
                <a:solidFill>
                  <a:srgbClr val="0F1115"/>
                </a:solidFill>
                <a:effectLst/>
                <a:latin typeface="quote-cjk-patch"/>
              </a:rPr>
              <a:t>：土壤墒情、作物长势、病虫害等。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000" b="1" i="0" dirty="0">
                <a:solidFill>
                  <a:srgbClr val="0F1115"/>
                </a:solidFill>
                <a:effectLst/>
                <a:latin typeface="quote-cjk-patch"/>
              </a:rPr>
              <a:t>交通</a:t>
            </a:r>
            <a:r>
              <a:rPr lang="zh-CN" altLang="en-US" sz="2000" b="0" i="0" dirty="0">
                <a:solidFill>
                  <a:srgbClr val="0F1115"/>
                </a:solidFill>
                <a:effectLst/>
                <a:latin typeface="quote-cjk-patch"/>
              </a:rPr>
              <a:t>：车流量、路况、航道水深、机场能见度等交通环境数据。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000" b="1" i="0" dirty="0">
                <a:solidFill>
                  <a:srgbClr val="0F1115"/>
                </a:solidFill>
                <a:effectLst/>
                <a:latin typeface="quote-cjk-patch"/>
              </a:rPr>
              <a:t>其他专门领域</a:t>
            </a:r>
            <a:r>
              <a:rPr lang="zh-CN" altLang="en-US" sz="2000" b="0" i="0" dirty="0">
                <a:solidFill>
                  <a:srgbClr val="0F1115"/>
                </a:solidFill>
                <a:effectLst/>
                <a:latin typeface="quote-cjk-patch"/>
              </a:rPr>
              <a:t>：如</a:t>
            </a:r>
            <a:r>
              <a:rPr lang="zh-CN" altLang="en-US" sz="2000" b="1" i="0" dirty="0">
                <a:solidFill>
                  <a:srgbClr val="0F1115"/>
                </a:solidFill>
                <a:effectLst/>
                <a:latin typeface="quote-cjk-patch"/>
              </a:rPr>
              <a:t>冰川、冻土、沙漠</a:t>
            </a:r>
            <a:r>
              <a:rPr lang="zh-CN" altLang="en-US" sz="2000" b="0" i="0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zh-CN" altLang="en-US" sz="2000" b="1" i="0" dirty="0">
                <a:solidFill>
                  <a:srgbClr val="0F1115"/>
                </a:solidFill>
                <a:effectLst/>
                <a:latin typeface="quote-cjk-patch"/>
              </a:rPr>
              <a:t>人口与社会经济</a:t>
            </a:r>
            <a:r>
              <a:rPr lang="zh-CN" altLang="en-US" sz="2000" b="0" i="0" dirty="0">
                <a:solidFill>
                  <a:srgbClr val="0F1115"/>
                </a:solidFill>
                <a:effectLst/>
                <a:latin typeface="quote-cjk-patch"/>
              </a:rPr>
              <a:t>等。</a:t>
            </a:r>
          </a:p>
          <a:p>
            <a:pPr marL="0" indent="0">
              <a:buNone/>
            </a:pPr>
            <a:endParaRPr lang="en-US" altLang="zh-CN" sz="2000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>
              <a:buNone/>
            </a:pPr>
            <a:r>
              <a:rPr lang="zh-CN" altLang="en-US" sz="2000" dirty="0"/>
              <a:t>将散见于文献中的这类数据汇集，让数据流通起来，对预测和模拟自然规律具有十分重要的意义，具有重要的商业价值。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90575" y="251688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28232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793A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014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92608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研究背景与意义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694944"/>
            <a:ext cx="868680" cy="73152"/>
          </a:xfrm>
          <a:prstGeom prst="roundRect">
            <a:avLst>
              <a:gd name="adj" fmla="val 37500"/>
            </a:avLst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566928"/>
            <a:ext cx="9052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5C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问题导向：为什么需要把</a:t>
            </a:r>
            <a:r>
              <a:rPr lang="zh-CN" altLang="en-US" sz="1050" dirty="0">
                <a:solidFill>
                  <a:srgbClr val="5C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文献中</a:t>
            </a:r>
            <a:r>
              <a:rPr lang="en-US" sz="1050" dirty="0" err="1">
                <a:solidFill>
                  <a:srgbClr val="5C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表格抽取做成“可校验、可优化”的系统，而不是单次提取脚本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0561320" y="347472"/>
            <a:ext cx="1115568" cy="256032"/>
          </a:xfrm>
          <a:prstGeom prst="roundRect">
            <a:avLst>
              <a:gd name="adj" fmla="val 28571"/>
            </a:avLst>
          </a:prstGeom>
          <a:solidFill>
            <a:srgbClr val="2C6ECB"/>
          </a:solidFill>
          <a:ln w="12700">
            <a:solidFill>
              <a:srgbClr val="2C6EC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61320" y="374904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3611880" cy="1005840"/>
          </a:xfrm>
          <a:prstGeom prst="roundRect">
            <a:avLst>
              <a:gd name="adj" fmla="val 7273"/>
            </a:avLst>
          </a:prstGeom>
          <a:solidFill>
            <a:srgbClr val="EAF1FB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" y="1097280"/>
            <a:ext cx="3282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1：文献表格高度异构</a:t>
            </a:r>
            <a:endParaRPr lang="en-US" sz="1340" dirty="0"/>
          </a:p>
        </p:txBody>
      </p:sp>
      <p:sp>
        <p:nvSpPr>
          <p:cNvPr id="9" name="Text 7"/>
          <p:cNvSpPr/>
          <p:nvPr/>
        </p:nvSpPr>
        <p:spPr>
          <a:xfrm>
            <a:off x="667512" y="1353312"/>
            <a:ext cx="32826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1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表格版式、表头层级、跨页续表、单位书写与缺失值表达方式差异显著，难以用单一规则处理。</a:t>
            </a:r>
            <a:endParaRPr lang="en-US" sz="1110" dirty="0"/>
          </a:p>
        </p:txBody>
      </p:sp>
      <p:sp>
        <p:nvSpPr>
          <p:cNvPr id="10" name="Shape 8"/>
          <p:cNvSpPr/>
          <p:nvPr/>
        </p:nvSpPr>
        <p:spPr>
          <a:xfrm>
            <a:off x="502920" y="2167128"/>
            <a:ext cx="3611880" cy="1005840"/>
          </a:xfrm>
          <a:prstGeom prst="roundRect">
            <a:avLst>
              <a:gd name="adj" fmla="val 7273"/>
            </a:avLst>
          </a:prstGeom>
          <a:solidFill>
            <a:srgbClr val="FFF1E2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" y="2276856"/>
            <a:ext cx="3282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9A5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2：传统方法效率与稳定性不足</a:t>
            </a:r>
            <a:endParaRPr lang="en-US" sz="1340" dirty="0"/>
          </a:p>
        </p:txBody>
      </p:sp>
      <p:sp>
        <p:nvSpPr>
          <p:cNvPr id="12" name="Text 10"/>
          <p:cNvSpPr/>
          <p:nvPr/>
        </p:nvSpPr>
        <p:spPr>
          <a:xfrm>
            <a:off x="667512" y="2532888"/>
            <a:ext cx="32826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1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人工录入成本高、复核周期长；纯规则方法在复杂表格场景下容易出现行列错位与字段漏提。</a:t>
            </a:r>
            <a:endParaRPr lang="en-US" sz="1110" dirty="0"/>
          </a:p>
        </p:txBody>
      </p:sp>
      <p:sp>
        <p:nvSpPr>
          <p:cNvPr id="13" name="Shape 11"/>
          <p:cNvSpPr/>
          <p:nvPr/>
        </p:nvSpPr>
        <p:spPr>
          <a:xfrm>
            <a:off x="502920" y="3346704"/>
            <a:ext cx="3611880" cy="1005840"/>
          </a:xfrm>
          <a:prstGeom prst="roundRect">
            <a:avLst>
              <a:gd name="adj" fmla="val 7273"/>
            </a:avLst>
          </a:prstGeom>
          <a:solidFill>
            <a:srgbClr val="E7F7F4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" y="3456432"/>
            <a:ext cx="3282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0E6C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3：纯大模型仍存在漏提风险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667512" y="3712464"/>
            <a:ext cx="32826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1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长表任务中常出现中途截断、省略后续记录、跳过空值和字段错位等问题。</a:t>
            </a:r>
            <a:endParaRPr lang="en-US" sz="1110" dirty="0"/>
          </a:p>
        </p:txBody>
      </p:sp>
      <p:sp>
        <p:nvSpPr>
          <p:cNvPr id="16" name="Text 14"/>
          <p:cNvSpPr/>
          <p:nvPr/>
        </p:nvSpPr>
        <p:spPr>
          <a:xfrm>
            <a:off x="566928" y="473659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本研究希望解决的核心矛盾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5070348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0109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如何在复杂表格场景下“提得出来”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5454396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394960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如何判断结果“提全了、提对了”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5838444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77900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如何让系统在失败案例中继续变强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0" y="9692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为何需要系统化方案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261872"/>
          <a:ext cx="6291072" cy="1572768"/>
        </p:xfrm>
        <a:graphic>
          <a:graphicData uri="http://schemas.openxmlformats.org/drawingml/2006/table">
            <a:tbl>
              <a:tblPr/>
              <a:tblGrid>
                <a:gridCol w="1170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优点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短板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人工录入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灵活、直观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慢、贵、不可规模化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纯规则解析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速度快、可重复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对复杂表格脆弱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纯大模型抽取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语义理解强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缺完整性保障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本研究系统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提取 + 校验 + 优化闭环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实现复杂度更高但更稳健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4572000" y="3493008"/>
            <a:ext cx="2148840" cy="1133856"/>
          </a:xfrm>
          <a:prstGeom prst="roundRect">
            <a:avLst>
              <a:gd name="adj" fmla="val 6452"/>
            </a:avLst>
          </a:prstGeom>
          <a:solidFill>
            <a:srgbClr val="EAF1FB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4736592" y="3602736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意义 1</a:t>
            </a:r>
            <a:endParaRPr lang="en-US" sz="1340" dirty="0"/>
          </a:p>
        </p:txBody>
      </p:sp>
      <p:sp>
        <p:nvSpPr>
          <p:cNvPr id="27" name="Text 24"/>
          <p:cNvSpPr/>
          <p:nvPr/>
        </p:nvSpPr>
        <p:spPr>
          <a:xfrm>
            <a:off x="4736592" y="3858768"/>
            <a:ext cx="181965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10" dirty="0" err="1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提升文献数据整理的自动化与规范化水平</a:t>
            </a:r>
            <a:r>
              <a:rPr lang="en-US" sz="111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10" dirty="0"/>
          </a:p>
        </p:txBody>
      </p:sp>
      <p:sp>
        <p:nvSpPr>
          <p:cNvPr id="28" name="Shape 25"/>
          <p:cNvSpPr/>
          <p:nvPr/>
        </p:nvSpPr>
        <p:spPr>
          <a:xfrm>
            <a:off x="7040880" y="3493008"/>
            <a:ext cx="2148840" cy="1133856"/>
          </a:xfrm>
          <a:prstGeom prst="roundRect">
            <a:avLst>
              <a:gd name="adj" fmla="val 6452"/>
            </a:avLst>
          </a:prstGeom>
          <a:solidFill>
            <a:srgbClr val="FFF1E2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205472" y="3602736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9A5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意义 2</a:t>
            </a:r>
            <a:endParaRPr lang="en-US" sz="1340" dirty="0"/>
          </a:p>
        </p:txBody>
      </p:sp>
      <p:sp>
        <p:nvSpPr>
          <p:cNvPr id="30" name="Text 27"/>
          <p:cNvSpPr/>
          <p:nvPr/>
        </p:nvSpPr>
        <p:spPr>
          <a:xfrm>
            <a:off x="7205472" y="3858768"/>
            <a:ext cx="181965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1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降低复杂表格抽取中的漏提、错位和不可复现风险。</a:t>
            </a:r>
            <a:endParaRPr lang="en-US" sz="1110" dirty="0"/>
          </a:p>
        </p:txBody>
      </p:sp>
      <p:sp>
        <p:nvSpPr>
          <p:cNvPr id="31" name="Shape 28"/>
          <p:cNvSpPr/>
          <p:nvPr/>
        </p:nvSpPr>
        <p:spPr>
          <a:xfrm>
            <a:off x="9509760" y="3493008"/>
            <a:ext cx="2148840" cy="1133856"/>
          </a:xfrm>
          <a:prstGeom prst="roundRect">
            <a:avLst>
              <a:gd name="adj" fmla="val 6452"/>
            </a:avLst>
          </a:prstGeom>
          <a:solidFill>
            <a:srgbClr val="E7F7F4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9674352" y="3602736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0E6C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意义 3</a:t>
            </a:r>
            <a:endParaRPr lang="en-US" sz="1340" dirty="0"/>
          </a:p>
        </p:txBody>
      </p:sp>
      <p:sp>
        <p:nvSpPr>
          <p:cNvPr id="33" name="Text 30"/>
          <p:cNvSpPr/>
          <p:nvPr/>
        </p:nvSpPr>
        <p:spPr>
          <a:xfrm>
            <a:off x="9674352" y="3858768"/>
            <a:ext cx="181965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1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为后续数据库建设、判别图绘制与定量建模提供稳定数据底座。</a:t>
            </a:r>
            <a:endParaRPr lang="en-US" sz="1110" dirty="0"/>
          </a:p>
        </p:txBody>
      </p:sp>
      <p:sp>
        <p:nvSpPr>
          <p:cNvPr id="34" name="Shape 31"/>
          <p:cNvSpPr/>
          <p:nvPr/>
        </p:nvSpPr>
        <p:spPr>
          <a:xfrm>
            <a:off x="4572000" y="4892040"/>
            <a:ext cx="70866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4736592" y="5001768"/>
            <a:ext cx="6757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一句话概括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4736592" y="5257800"/>
            <a:ext cx="675741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20" dirty="0" err="1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本研究不是做一个“会抽表”的工具，而是做一个“能抽、会检、可修正、可持续扩展”的文献数据处理系统</a:t>
            </a:r>
            <a:r>
              <a:rPr lang="en-US" sz="122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20" dirty="0"/>
          </a:p>
        </p:txBody>
      </p:sp>
      <p:sp>
        <p:nvSpPr>
          <p:cNvPr id="37" name="Text 34"/>
          <p:cNvSpPr/>
          <p:nvPr/>
        </p:nvSpPr>
        <p:spPr>
          <a:xfrm>
            <a:off x="438912" y="6355080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F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背景页讲法：先说明现有方法的局限，再引出“必须增加校验和闭环优化”的必要性。</a:t>
            </a:r>
            <a:endParaRPr lang="en-US" sz="92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28232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793A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92608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研究目标与拟解决的关键问题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694944"/>
            <a:ext cx="868680" cy="73152"/>
          </a:xfrm>
          <a:prstGeom prst="roundRect">
            <a:avLst>
              <a:gd name="adj" fmla="val 37500"/>
            </a:avLst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566928"/>
            <a:ext cx="9052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总目标：从原始 PDF </a:t>
            </a:r>
            <a:r>
              <a:rPr lang="en-US" sz="1050" dirty="0" err="1">
                <a:solidFill>
                  <a:srgbClr val="5C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文献中稳定获得可直接入库的标准化</a:t>
            </a:r>
            <a:r>
              <a:rPr lang="zh-CN" altLang="en-US" sz="1050" dirty="0">
                <a:solidFill>
                  <a:srgbClr val="5C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</a:t>
            </a:r>
            <a:r>
              <a:rPr lang="en-US" sz="1050" dirty="0" err="1">
                <a:solidFill>
                  <a:srgbClr val="5C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0561320" y="347472"/>
            <a:ext cx="1115568" cy="256032"/>
          </a:xfrm>
          <a:prstGeom prst="roundRect">
            <a:avLst>
              <a:gd name="adj" fmla="val 28571"/>
            </a:avLst>
          </a:prstGeom>
          <a:solidFill>
            <a:srgbClr val="2C6ECB"/>
          </a:solidFill>
          <a:ln w="12700">
            <a:solidFill>
              <a:srgbClr val="2C6EC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61320" y="374904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548640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" y="1069848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7512" y="1325880"/>
            <a:ext cx="5157216" cy="4800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713232" y="1353312"/>
            <a:ext cx="292608" cy="292608"/>
          </a:xfrm>
          <a:prstGeom prst="ellipse">
            <a:avLst/>
          </a:prstGeom>
          <a:solidFill>
            <a:srgbClr val="2C6ECB"/>
          </a:solidFill>
          <a:ln w="12700">
            <a:solidFill>
              <a:srgbClr val="2C6EC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39903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1097280" y="1371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1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构建双模态解析方法，同时保留表格图像结构与文本语义</a:t>
            </a:r>
            <a:endParaRPr lang="en-US" sz="1210" dirty="0"/>
          </a:p>
        </p:txBody>
      </p:sp>
      <p:sp>
        <p:nvSpPr>
          <p:cNvPr id="13" name="Shape 11"/>
          <p:cNvSpPr/>
          <p:nvPr/>
        </p:nvSpPr>
        <p:spPr>
          <a:xfrm>
            <a:off x="713232" y="2011680"/>
            <a:ext cx="292608" cy="292608"/>
          </a:xfrm>
          <a:prstGeom prst="ellipse">
            <a:avLst/>
          </a:prstGeom>
          <a:solidFill>
            <a:srgbClr val="2C6ECB"/>
          </a:solidFill>
          <a:ln w="12700">
            <a:solidFill>
              <a:srgbClr val="2C6EC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057400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1097280" y="20299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1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设计版式识别与模板路由机制，增强异构表格适配能力</a:t>
            </a:r>
            <a:endParaRPr lang="en-US" sz="1210" dirty="0"/>
          </a:p>
        </p:txBody>
      </p:sp>
      <p:sp>
        <p:nvSpPr>
          <p:cNvPr id="16" name="Shape 14"/>
          <p:cNvSpPr/>
          <p:nvPr/>
        </p:nvSpPr>
        <p:spPr>
          <a:xfrm>
            <a:off x="713232" y="2670048"/>
            <a:ext cx="292608" cy="292608"/>
          </a:xfrm>
          <a:prstGeom prst="ellipse">
            <a:avLst/>
          </a:prstGeom>
          <a:solidFill>
            <a:srgbClr val="1A9D8F"/>
          </a:solidFill>
          <a:ln w="12700">
            <a:solidFill>
              <a:srgbClr val="1A9D8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715768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1097280" y="268833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1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通过完整性强约束抑制长表任务中的漏提与截断</a:t>
            </a:r>
            <a:endParaRPr lang="en-US" sz="1210" dirty="0"/>
          </a:p>
        </p:txBody>
      </p:sp>
      <p:sp>
        <p:nvSpPr>
          <p:cNvPr id="19" name="Shape 17"/>
          <p:cNvSpPr/>
          <p:nvPr/>
        </p:nvSpPr>
        <p:spPr>
          <a:xfrm>
            <a:off x="713232" y="3328416"/>
            <a:ext cx="292608" cy="292608"/>
          </a:xfrm>
          <a:prstGeom prst="ellipse">
            <a:avLst/>
          </a:prstGeom>
          <a:solidFill>
            <a:srgbClr val="1A9D8F"/>
          </a:solidFill>
          <a:ln w="12700">
            <a:solidFill>
              <a:srgbClr val="1A9D8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374136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1097280" y="33467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1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构建分层分类自动校验体系，提升结果可信度</a:t>
            </a:r>
            <a:endParaRPr lang="en-US" sz="1210" dirty="0"/>
          </a:p>
        </p:txBody>
      </p:sp>
      <p:sp>
        <p:nvSpPr>
          <p:cNvPr id="22" name="Shape 20"/>
          <p:cNvSpPr/>
          <p:nvPr/>
        </p:nvSpPr>
        <p:spPr>
          <a:xfrm>
            <a:off x="713232" y="3986784"/>
            <a:ext cx="292608" cy="292608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4032504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1097280" y="40050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1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建立闭环反思与模板自更新机制</a:t>
            </a:r>
            <a:endParaRPr lang="en-US" sz="1210" dirty="0"/>
          </a:p>
        </p:txBody>
      </p:sp>
      <p:sp>
        <p:nvSpPr>
          <p:cNvPr id="25" name="Shape 23"/>
          <p:cNvSpPr/>
          <p:nvPr/>
        </p:nvSpPr>
        <p:spPr>
          <a:xfrm>
            <a:off x="713232" y="4645152"/>
            <a:ext cx="292608" cy="292608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469087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1097280" y="4663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10" dirty="0" err="1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形成统一格式数据库，服务后续</a:t>
            </a:r>
            <a:r>
              <a:rPr lang="zh-CN" altLang="en-US" sz="121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数据统计</a:t>
            </a:r>
            <a:r>
              <a:rPr lang="en-US" sz="1210" dirty="0" err="1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sz="1210" dirty="0"/>
          </a:p>
        </p:txBody>
      </p:sp>
      <p:sp>
        <p:nvSpPr>
          <p:cNvPr id="28" name="Shape 26"/>
          <p:cNvSpPr/>
          <p:nvPr/>
        </p:nvSpPr>
        <p:spPr>
          <a:xfrm>
            <a:off x="6309360" y="960120"/>
            <a:ext cx="5394960" cy="1115568"/>
          </a:xfrm>
          <a:prstGeom prst="roundRect">
            <a:avLst>
              <a:gd name="adj" fmla="val 6557"/>
            </a:avLst>
          </a:prstGeom>
          <a:solidFill>
            <a:srgbClr val="EAF1FB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73952" y="1069848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关键问题 1：复杂表格如何被稳定定位</a:t>
            </a:r>
            <a:endParaRPr lang="en-US" sz="1340" dirty="0"/>
          </a:p>
        </p:txBody>
      </p:sp>
      <p:sp>
        <p:nvSpPr>
          <p:cNvPr id="30" name="Text 28"/>
          <p:cNvSpPr/>
          <p:nvPr/>
        </p:nvSpPr>
        <p:spPr>
          <a:xfrm>
            <a:off x="6473952" y="1325880"/>
            <a:ext cx="506577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1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跨页表、嵌套表头、表注混排会破坏单一解析逻辑，需要图像结构和文本语义协同。</a:t>
            </a:r>
            <a:endParaRPr lang="en-US" sz="1110" dirty="0"/>
          </a:p>
        </p:txBody>
      </p:sp>
      <p:sp>
        <p:nvSpPr>
          <p:cNvPr id="31" name="Shape 29"/>
          <p:cNvSpPr/>
          <p:nvPr/>
        </p:nvSpPr>
        <p:spPr>
          <a:xfrm>
            <a:off x="6309360" y="2304288"/>
            <a:ext cx="5394960" cy="1115568"/>
          </a:xfrm>
          <a:prstGeom prst="roundRect">
            <a:avLst>
              <a:gd name="adj" fmla="val 6557"/>
            </a:avLst>
          </a:prstGeom>
          <a:solidFill>
            <a:srgbClr val="FFF1E2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73952" y="2414016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9A5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关键问题 2：长表抽取如何避免漏提</a:t>
            </a:r>
            <a:endParaRPr lang="en-US" sz="1340" dirty="0"/>
          </a:p>
        </p:txBody>
      </p:sp>
      <p:sp>
        <p:nvSpPr>
          <p:cNvPr id="33" name="Text 31"/>
          <p:cNvSpPr/>
          <p:nvPr/>
        </p:nvSpPr>
        <p:spPr>
          <a:xfrm>
            <a:off x="6473952" y="2670048"/>
            <a:ext cx="506577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1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必须把目标维度、空值处理和禁止省略等约束前置到抽取过程，而不是事后补救。</a:t>
            </a:r>
            <a:endParaRPr lang="en-US" sz="1110" dirty="0"/>
          </a:p>
        </p:txBody>
      </p:sp>
      <p:sp>
        <p:nvSpPr>
          <p:cNvPr id="34" name="Shape 32"/>
          <p:cNvSpPr/>
          <p:nvPr/>
        </p:nvSpPr>
        <p:spPr>
          <a:xfrm>
            <a:off x="6309360" y="3648456"/>
            <a:ext cx="5394960" cy="1115568"/>
          </a:xfrm>
          <a:prstGeom prst="roundRect">
            <a:avLst>
              <a:gd name="adj" fmla="val 6557"/>
            </a:avLst>
          </a:prstGeom>
          <a:solidFill>
            <a:srgbClr val="E7F7F4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73952" y="3758184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0E6C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关键问题 3：结果如何判断“提对了”</a:t>
            </a:r>
            <a:endParaRPr lang="en-US" sz="1340" dirty="0"/>
          </a:p>
        </p:txBody>
      </p:sp>
      <p:sp>
        <p:nvSpPr>
          <p:cNvPr id="36" name="Text 34"/>
          <p:cNvSpPr/>
          <p:nvPr/>
        </p:nvSpPr>
        <p:spPr>
          <a:xfrm>
            <a:off x="6473952" y="4014216"/>
            <a:ext cx="506577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1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仅看 JSON 是否生成出来不够，必须增加结构、格式和领域三个层次的质量控制。</a:t>
            </a:r>
            <a:endParaRPr lang="en-US" sz="1110" dirty="0"/>
          </a:p>
        </p:txBody>
      </p:sp>
      <p:sp>
        <p:nvSpPr>
          <p:cNvPr id="37" name="Shape 35"/>
          <p:cNvSpPr/>
          <p:nvPr/>
        </p:nvSpPr>
        <p:spPr>
          <a:xfrm>
            <a:off x="6309360" y="4992624"/>
            <a:ext cx="5394960" cy="1115568"/>
          </a:xfrm>
          <a:prstGeom prst="roundRect">
            <a:avLst>
              <a:gd name="adj" fmla="val 6557"/>
            </a:avLst>
          </a:prstGeom>
          <a:solidFill>
            <a:srgbClr val="EAF1FB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473952" y="5102352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关键问题 4：系统如何适应未知版式</a:t>
            </a:r>
            <a:endParaRPr lang="en-US" sz="1340" dirty="0"/>
          </a:p>
        </p:txBody>
      </p:sp>
      <p:sp>
        <p:nvSpPr>
          <p:cNvPr id="39" name="Text 37"/>
          <p:cNvSpPr/>
          <p:nvPr/>
        </p:nvSpPr>
        <p:spPr>
          <a:xfrm>
            <a:off x="6473952" y="5358384"/>
            <a:ext cx="506577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1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当模板覆盖不到时，需要将失败上下文回流给优化模块，自动修订模板并重试。</a:t>
            </a:r>
            <a:endParaRPr lang="en-US" sz="1110" dirty="0"/>
          </a:p>
        </p:txBody>
      </p:sp>
      <p:sp>
        <p:nvSpPr>
          <p:cNvPr id="40" name="Text 38"/>
          <p:cNvSpPr/>
          <p:nvPr/>
        </p:nvSpPr>
        <p:spPr>
          <a:xfrm>
            <a:off x="438912" y="6355080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F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本页用于把“为什么做”和“具体要解决什么问题”说清楚，为后续技术路线展开做铺垫。</a:t>
            </a:r>
            <a:endParaRPr lang="en-US" sz="92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28232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793A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92608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总体技术路线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694944"/>
            <a:ext cx="868680" cy="73152"/>
          </a:xfrm>
          <a:prstGeom prst="roundRect">
            <a:avLst>
              <a:gd name="adj" fmla="val 37500"/>
            </a:avLst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566928"/>
            <a:ext cx="9052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主流程负责从文献到数据库的顺序处理，反馈回路负责处理未知格式和失败样本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0561320" y="347472"/>
            <a:ext cx="1115568" cy="256032"/>
          </a:xfrm>
          <a:prstGeom prst="roundRect">
            <a:avLst>
              <a:gd name="adj" fmla="val 28571"/>
            </a:avLst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61320" y="374904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总流程</a:t>
            </a:r>
            <a:endParaRPr lang="en-US" sz="1020" dirty="0"/>
          </a:p>
        </p:txBody>
      </p:sp>
      <p:pic>
        <p:nvPicPr>
          <p:cNvPr id="7" name="Image 0" descr="/mnt/data/geochem_flowcharts/figure1_overall_technical_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7214"/>
            <a:ext cx="6629400" cy="41556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78992"/>
            <a:ext cx="4343400" cy="749808"/>
          </a:xfrm>
          <a:prstGeom prst="roundRect">
            <a:avLst>
              <a:gd name="adj" fmla="val 9756"/>
            </a:avLst>
          </a:prstGeom>
          <a:solidFill>
            <a:srgbClr val="EAF1FB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25512" y="1188720"/>
            <a:ext cx="4014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总体思路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525512" y="1444752"/>
            <a:ext cx="40142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以“多模态解析”为基础，以“约束抽取”为核心，以“分层校验”为保障，以“闭环优化”为提升。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24928" y="1993392"/>
            <a:ext cx="749808" cy="219456"/>
          </a:xfrm>
          <a:prstGeom prst="roundRect">
            <a:avLst>
              <a:gd name="adj" fmla="val 37500"/>
            </a:avLst>
          </a:prstGeom>
          <a:solidFill>
            <a:srgbClr val="2C6ECB"/>
          </a:solidFill>
          <a:ln w="12700">
            <a:solidFill>
              <a:srgbClr val="2C6ECB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24928" y="2018995"/>
            <a:ext cx="749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解析</a:t>
            </a:r>
            <a:endParaRPr lang="en-US" sz="940" dirty="0"/>
          </a:p>
        </p:txBody>
      </p:sp>
      <p:sp>
        <p:nvSpPr>
          <p:cNvPr id="13" name="Text 10"/>
          <p:cNvSpPr/>
          <p:nvPr/>
        </p:nvSpPr>
        <p:spPr>
          <a:xfrm>
            <a:off x="8284464" y="20116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得到表格图像、文本源码和目标维度</a:t>
            </a:r>
            <a:endParaRPr lang="en-US" sz="1060" dirty="0"/>
          </a:p>
        </p:txBody>
      </p:sp>
      <p:sp>
        <p:nvSpPr>
          <p:cNvPr id="14" name="Shape 11"/>
          <p:cNvSpPr/>
          <p:nvPr/>
        </p:nvSpPr>
        <p:spPr>
          <a:xfrm>
            <a:off x="7424928" y="2523744"/>
            <a:ext cx="749808" cy="219456"/>
          </a:xfrm>
          <a:prstGeom prst="roundRect">
            <a:avLst>
              <a:gd name="adj" fmla="val 37500"/>
            </a:avLst>
          </a:prstGeom>
          <a:solidFill>
            <a:srgbClr val="1A9D8F"/>
          </a:solidFill>
          <a:ln w="12700">
            <a:solidFill>
              <a:srgbClr val="1A9D8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24928" y="2549347"/>
            <a:ext cx="749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路由</a:t>
            </a:r>
            <a:endParaRPr lang="en-US" sz="940" dirty="0"/>
          </a:p>
        </p:txBody>
      </p:sp>
      <p:sp>
        <p:nvSpPr>
          <p:cNvPr id="16" name="Text 13"/>
          <p:cNvSpPr/>
          <p:nvPr/>
        </p:nvSpPr>
        <p:spPr>
          <a:xfrm>
            <a:off x="8284464" y="25420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识别版式并匹配模板</a:t>
            </a:r>
            <a:endParaRPr lang="en-US" sz="1060" dirty="0"/>
          </a:p>
        </p:txBody>
      </p:sp>
      <p:sp>
        <p:nvSpPr>
          <p:cNvPr id="17" name="Shape 14"/>
          <p:cNvSpPr/>
          <p:nvPr/>
        </p:nvSpPr>
        <p:spPr>
          <a:xfrm>
            <a:off x="7424928" y="3054096"/>
            <a:ext cx="749808" cy="219456"/>
          </a:xfrm>
          <a:prstGeom prst="roundRect">
            <a:avLst>
              <a:gd name="adj" fmla="val 37500"/>
            </a:avLst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24928" y="3079699"/>
            <a:ext cx="749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抽取</a:t>
            </a:r>
            <a:endParaRPr lang="en-US" sz="940" dirty="0"/>
          </a:p>
        </p:txBody>
      </p:sp>
      <p:sp>
        <p:nvSpPr>
          <p:cNvPr id="19" name="Text 16"/>
          <p:cNvSpPr/>
          <p:nvPr/>
        </p:nvSpPr>
        <p:spPr>
          <a:xfrm>
            <a:off x="8284464" y="3072384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在强约束下生成标准化 JSON</a:t>
            </a:r>
            <a:endParaRPr lang="en-US" sz="1060" dirty="0"/>
          </a:p>
        </p:txBody>
      </p:sp>
      <p:sp>
        <p:nvSpPr>
          <p:cNvPr id="20" name="Shape 17"/>
          <p:cNvSpPr/>
          <p:nvPr/>
        </p:nvSpPr>
        <p:spPr>
          <a:xfrm>
            <a:off x="7424928" y="3584448"/>
            <a:ext cx="749808" cy="219456"/>
          </a:xfrm>
          <a:prstGeom prst="roundRect">
            <a:avLst>
              <a:gd name="adj" fmla="val 37500"/>
            </a:avLst>
          </a:prstGeom>
          <a:solidFill>
            <a:srgbClr val="2C6ECB"/>
          </a:solidFill>
          <a:ln w="12700">
            <a:solidFill>
              <a:srgbClr val="2C6ECB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24928" y="3610051"/>
            <a:ext cx="749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校验</a:t>
            </a:r>
            <a:endParaRPr lang="en-US" sz="940" dirty="0"/>
          </a:p>
        </p:txBody>
      </p:sp>
      <p:sp>
        <p:nvSpPr>
          <p:cNvPr id="22" name="Text 19"/>
          <p:cNvSpPr/>
          <p:nvPr/>
        </p:nvSpPr>
        <p:spPr>
          <a:xfrm>
            <a:off x="8284464" y="3602736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检查是否提全、提对</a:t>
            </a:r>
            <a:endParaRPr lang="en-US" sz="1060" dirty="0"/>
          </a:p>
        </p:txBody>
      </p:sp>
      <p:sp>
        <p:nvSpPr>
          <p:cNvPr id="23" name="Shape 20"/>
          <p:cNvSpPr/>
          <p:nvPr/>
        </p:nvSpPr>
        <p:spPr>
          <a:xfrm>
            <a:off x="7424928" y="4114800"/>
            <a:ext cx="749808" cy="219456"/>
          </a:xfrm>
          <a:prstGeom prst="roundRect">
            <a:avLst>
              <a:gd name="adj" fmla="val 37500"/>
            </a:avLst>
          </a:prstGeom>
          <a:solidFill>
            <a:srgbClr val="1A9D8F"/>
          </a:solidFill>
          <a:ln w="12700">
            <a:solidFill>
              <a:srgbClr val="1A9D8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24928" y="4140403"/>
            <a:ext cx="749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优化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8284464" y="413308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失败后自动修订模板并重试</a:t>
            </a:r>
            <a:endParaRPr lang="en-US" sz="1060" dirty="0"/>
          </a:p>
        </p:txBody>
      </p:sp>
      <p:sp>
        <p:nvSpPr>
          <p:cNvPr id="26" name="Shape 23"/>
          <p:cNvSpPr/>
          <p:nvPr/>
        </p:nvSpPr>
        <p:spPr>
          <a:xfrm>
            <a:off x="7424928" y="4645152"/>
            <a:ext cx="749808" cy="219456"/>
          </a:xfrm>
          <a:prstGeom prst="roundRect">
            <a:avLst>
              <a:gd name="adj" fmla="val 37500"/>
            </a:avLst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24928" y="4670755"/>
            <a:ext cx="749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入库</a:t>
            </a:r>
            <a:endParaRPr lang="en-US" sz="940" dirty="0"/>
          </a:p>
        </p:txBody>
      </p:sp>
      <p:sp>
        <p:nvSpPr>
          <p:cNvPr id="28" name="Text 25"/>
          <p:cNvSpPr/>
          <p:nvPr/>
        </p:nvSpPr>
        <p:spPr>
          <a:xfrm>
            <a:off x="8284464" y="466344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字段对齐、补空、统一导出</a:t>
            </a:r>
            <a:endParaRPr lang="en-US" sz="1060" dirty="0"/>
          </a:p>
        </p:txBody>
      </p:sp>
      <p:sp>
        <p:nvSpPr>
          <p:cNvPr id="29" name="Shape 26"/>
          <p:cNvSpPr/>
          <p:nvPr/>
        </p:nvSpPr>
        <p:spPr>
          <a:xfrm>
            <a:off x="7360920" y="5230368"/>
            <a:ext cx="4343400" cy="786384"/>
          </a:xfrm>
          <a:prstGeom prst="roundRect">
            <a:avLst>
              <a:gd name="adj" fmla="val 9302"/>
            </a:avLst>
          </a:prstGeom>
          <a:solidFill>
            <a:srgbClr val="FFF1E2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7525512" y="5340096"/>
            <a:ext cx="4014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5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讲解建议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525512" y="5596128"/>
            <a:ext cx="401421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先用这页讲清“主流程 + 反馈回路”的逻辑，再逐页展开 6 个模块，听众更容易跟上。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38912" y="6355080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F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图1用于总览：先展示全貌，再进入分模块解释。</a:t>
            </a:r>
            <a:endParaRPr lang="en-US" sz="92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28232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793A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92608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1：原始文献输入与多模态基础解析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694944"/>
            <a:ext cx="868680" cy="73152"/>
          </a:xfrm>
          <a:prstGeom prst="roundRect">
            <a:avLst>
              <a:gd name="adj" fmla="val 37500"/>
            </a:avLst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566928"/>
            <a:ext cx="9052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目标：同时获得图像结构信息、文本语义信息和目标维度信息，为后续抽取提供基础输入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0561320" y="347472"/>
            <a:ext cx="1115568" cy="256032"/>
          </a:xfrm>
          <a:prstGeom prst="roundRect">
            <a:avLst>
              <a:gd name="adj" fmla="val 28571"/>
            </a:avLst>
          </a:prstGeom>
          <a:solidFill>
            <a:srgbClr val="2C6ECB"/>
          </a:solidFill>
          <a:ln w="12700">
            <a:solidFill>
              <a:srgbClr val="2C6EC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61320" y="374904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模块1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53492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" y="1097280"/>
            <a:ext cx="5020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模块说明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667512" y="1353312"/>
            <a:ext cx="5020056" cy="3931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endParaRPr lang="en-US" sz="1160" dirty="0"/>
          </a:p>
        </p:txBody>
      </p:sp>
      <p:sp>
        <p:nvSpPr>
          <p:cNvPr id="10" name="Shape 8"/>
          <p:cNvSpPr/>
          <p:nvPr/>
        </p:nvSpPr>
        <p:spPr>
          <a:xfrm>
            <a:off x="713232" y="1371600"/>
            <a:ext cx="658368" cy="219456"/>
          </a:xfrm>
          <a:prstGeom prst="roundRect">
            <a:avLst>
              <a:gd name="adj" fmla="val 37500"/>
            </a:avLst>
          </a:prstGeom>
          <a:solidFill>
            <a:srgbClr val="2C6ECB"/>
          </a:solidFill>
          <a:ln w="12700">
            <a:solidFill>
              <a:srgbClr val="2C6EC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397203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731520" y="1723644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1664208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 PDF 文献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731520" y="2089404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029968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版面解析工具输出的布局坐标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731520" y="2455164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2395728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目标表格在页面中的边界框信息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713232" y="2834640"/>
            <a:ext cx="658368" cy="219456"/>
          </a:xfrm>
          <a:prstGeom prst="roundRect">
            <a:avLst>
              <a:gd name="adj" fmla="val 37500"/>
            </a:avLst>
          </a:prstGeom>
          <a:solidFill>
            <a:srgbClr val="1A9D8F"/>
          </a:solidFill>
          <a:ln w="12700">
            <a:solidFill>
              <a:srgbClr val="1A9D8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2860243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31520" y="3186684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3127248"/>
            <a:ext cx="4544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裁剪表格高清截图，保留行列结构与表头层级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731520" y="3552444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3493008"/>
            <a:ext cx="4544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 Markdown 表格源码，保留字段名与数值文本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731520" y="3918204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3858768"/>
            <a:ext cx="4544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统计目标样品数 N、字段数 M，作为后续完整性基准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731520" y="4283964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4224528"/>
            <a:ext cx="4544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若为跨页续表，则自动补接上一页表头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713232" y="4809744"/>
            <a:ext cx="658368" cy="219456"/>
          </a:xfrm>
          <a:prstGeom prst="roundRect">
            <a:avLst>
              <a:gd name="adj" fmla="val 37500"/>
            </a:avLst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4835347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731520" y="5161788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5102352"/>
            <a:ext cx="4498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表格图像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731520" y="5490972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6112" y="5431536"/>
            <a:ext cx="4498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 Markdown 文本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731520" y="5820156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5760720"/>
            <a:ext cx="4498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目标维度信息（N、M）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731520" y="6149340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" y="6089904"/>
            <a:ext cx="4498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跨页拼接后的连续表头</a:t>
            </a:r>
            <a:endParaRPr lang="en-US" sz="1120" dirty="0"/>
          </a:p>
        </p:txBody>
      </p:sp>
      <p:sp>
        <p:nvSpPr>
          <p:cNvPr id="38" name="Shape 36"/>
          <p:cNvSpPr/>
          <p:nvPr/>
        </p:nvSpPr>
        <p:spPr>
          <a:xfrm>
            <a:off x="6126480" y="987552"/>
            <a:ext cx="55778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291072" y="1097280"/>
            <a:ext cx="5248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模块示例</a:t>
            </a:r>
            <a:endParaRPr lang="en-US" sz="1420" dirty="0"/>
          </a:p>
        </p:txBody>
      </p:sp>
      <p:sp>
        <p:nvSpPr>
          <p:cNvPr id="40" name="Text 38"/>
          <p:cNvSpPr/>
          <p:nvPr/>
        </p:nvSpPr>
        <p:spPr>
          <a:xfrm>
            <a:off x="6291072" y="1353312"/>
            <a:ext cx="5248656" cy="3931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endParaRPr lang="en-US" sz="1140" dirty="0"/>
          </a:p>
        </p:txBody>
      </p:sp>
      <p:sp>
        <p:nvSpPr>
          <p:cNvPr id="41" name="Shape 39"/>
          <p:cNvSpPr/>
          <p:nvPr/>
        </p:nvSpPr>
        <p:spPr>
          <a:xfrm>
            <a:off x="6355080" y="1627632"/>
            <a:ext cx="12344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02552" y="1700784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PDF页面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93A1B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93A1B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93A1B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92240" y="2377440"/>
            <a:ext cx="868680" cy="576072"/>
          </a:xfrm>
          <a:prstGeom prst="rect">
            <a:avLst/>
          </a:prstGeom>
          <a:solidFill>
            <a:srgbClr val="F3F5F8"/>
          </a:solidFill>
          <a:ln w="12700">
            <a:solidFill>
              <a:srgbClr val="23344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92240" y="2377440"/>
            <a:ext cx="868680" cy="576072"/>
          </a:xfrm>
          <a:prstGeom prst="rect">
            <a:avLst/>
          </a:prstGeom>
          <a:solidFill>
            <a:srgbClr val="F3F5F8"/>
          </a:solidFill>
          <a:ln w="12700">
            <a:solidFill>
              <a:srgbClr val="7B879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51192" y="2313432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BBox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744968" y="2240280"/>
            <a:ext cx="347472" cy="274320"/>
          </a:xfrm>
          <a:prstGeom prst="chevron">
            <a:avLst/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183880" y="1764792"/>
            <a:ext cx="1417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595360" y="1856232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表格截图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330184" y="2103120"/>
            <a:ext cx="1097280" cy="658368"/>
          </a:xfrm>
          <a:prstGeom prst="rect">
            <a:avLst/>
          </a:prstGeom>
          <a:solidFill>
            <a:srgbClr val="FAFAFA"/>
          </a:solidFill>
          <a:ln w="12700">
            <a:solidFill>
              <a:srgbClr val="7B879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802368" y="2240280"/>
            <a:ext cx="347472" cy="274320"/>
          </a:xfrm>
          <a:prstGeom prst="chevron">
            <a:avLst/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213848" y="1673352"/>
            <a:ext cx="2057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360152" y="1755648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Markdown源码 + 维度统计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10360152" y="1975104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233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|Sample|SiO2|MgO|Cr|</a:t>
            </a:r>
            <a:endParaRPr lang="en-US" sz="760" dirty="0"/>
          </a:p>
        </p:txBody>
      </p:sp>
      <p:sp>
        <p:nvSpPr>
          <p:cNvPr id="71" name="Text 69"/>
          <p:cNvSpPr/>
          <p:nvPr/>
        </p:nvSpPr>
        <p:spPr>
          <a:xfrm>
            <a:off x="10360152" y="2130552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233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|---|---:|---:|---:|</a:t>
            </a:r>
            <a:endParaRPr lang="en-US" sz="760" dirty="0"/>
          </a:p>
        </p:txBody>
      </p:sp>
      <p:sp>
        <p:nvSpPr>
          <p:cNvPr id="72" name="Text 70"/>
          <p:cNvSpPr/>
          <p:nvPr/>
        </p:nvSpPr>
        <p:spPr>
          <a:xfrm>
            <a:off x="10360152" y="2286000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233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|A01|48.2|7.4|225|</a:t>
            </a:r>
            <a:endParaRPr lang="en-US" sz="760" dirty="0"/>
          </a:p>
        </p:txBody>
      </p:sp>
      <p:sp>
        <p:nvSpPr>
          <p:cNvPr id="73" name="Text 71"/>
          <p:cNvSpPr/>
          <p:nvPr/>
        </p:nvSpPr>
        <p:spPr>
          <a:xfrm>
            <a:off x="10360152" y="2441448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233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|A02|49.0|6.8|210|</a:t>
            </a:r>
            <a:endParaRPr lang="en-US" sz="760" dirty="0"/>
          </a:p>
        </p:txBody>
      </p:sp>
      <p:sp>
        <p:nvSpPr>
          <p:cNvPr id="74" name="Shape 72"/>
          <p:cNvSpPr/>
          <p:nvPr/>
        </p:nvSpPr>
        <p:spPr>
          <a:xfrm>
            <a:off x="10360152" y="2706624"/>
            <a:ext cx="694944" cy="201168"/>
          </a:xfrm>
          <a:prstGeom prst="roundRect">
            <a:avLst>
              <a:gd name="adj" fmla="val 40909"/>
            </a:avLst>
          </a:prstGeom>
          <a:solidFill>
            <a:srgbClr val="EAF1FB"/>
          </a:solidFill>
          <a:ln w="12700">
            <a:solidFill>
              <a:srgbClr val="EAF1FB">
                <a:alpha val="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360152" y="2732227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样品数 N=18</a:t>
            </a:r>
            <a:endParaRPr lang="en-US" sz="820" dirty="0"/>
          </a:p>
        </p:txBody>
      </p:sp>
      <p:sp>
        <p:nvSpPr>
          <p:cNvPr id="76" name="Shape 74"/>
          <p:cNvSpPr/>
          <p:nvPr/>
        </p:nvSpPr>
        <p:spPr>
          <a:xfrm>
            <a:off x="11164824" y="2706624"/>
            <a:ext cx="822960" cy="201168"/>
          </a:xfrm>
          <a:prstGeom prst="roundRect">
            <a:avLst>
              <a:gd name="adj" fmla="val 40909"/>
            </a:avLst>
          </a:prstGeom>
          <a:solidFill>
            <a:srgbClr val="E7F7F4"/>
          </a:solidFill>
          <a:ln w="12700">
            <a:solidFill>
              <a:srgbClr val="E7F7F4">
                <a:alpha val="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1164824" y="2732227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E6C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字段数 M=14</a:t>
            </a:r>
            <a:endParaRPr lang="en-US" sz="820" dirty="0"/>
          </a:p>
        </p:txBody>
      </p:sp>
      <p:sp>
        <p:nvSpPr>
          <p:cNvPr id="78" name="Shape 76"/>
          <p:cNvSpPr/>
          <p:nvPr/>
        </p:nvSpPr>
        <p:spPr>
          <a:xfrm>
            <a:off x="6355080" y="4069080"/>
            <a:ext cx="5074920" cy="987552"/>
          </a:xfrm>
          <a:prstGeom prst="roundRect">
            <a:avLst>
              <a:gd name="adj" fmla="val 7407"/>
            </a:avLst>
          </a:prstGeom>
          <a:solidFill>
            <a:srgbClr val="EAF1FB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6519672" y="4178808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例子怎么讲</a:t>
            </a:r>
            <a:endParaRPr lang="en-US" sz="1240" dirty="0"/>
          </a:p>
        </p:txBody>
      </p:sp>
      <p:sp>
        <p:nvSpPr>
          <p:cNvPr id="80" name="Text 78"/>
          <p:cNvSpPr/>
          <p:nvPr/>
        </p:nvSpPr>
        <p:spPr>
          <a:xfrm>
            <a:off x="6519672" y="4434840"/>
            <a:ext cx="474573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7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例：系统在页面中定位到目标表格 BBox 后，裁剪出高清表格图像，并从 Markdown 中统计出“18 个样品、14 个字段”；这一步并不直接抽数据，而是为后续抽取和校验建立统一基准。</a:t>
            </a:r>
            <a:endParaRPr lang="en-US" sz="1070" dirty="0"/>
          </a:p>
        </p:txBody>
      </p:sp>
      <p:sp>
        <p:nvSpPr>
          <p:cNvPr id="81" name="Text 79"/>
          <p:cNvSpPr/>
          <p:nvPr/>
        </p:nvSpPr>
        <p:spPr>
          <a:xfrm>
            <a:off x="438912" y="6355080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F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该模块重点不是“识别数值”，而是把后续抽取所需的图像、文本和维度基准准备完整。</a:t>
            </a:r>
            <a:endParaRPr lang="en-US" sz="920" dirty="0"/>
          </a:p>
        </p:txBody>
      </p:sp>
      <p:sp>
        <p:nvSpPr>
          <p:cNvPr id="8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28232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793A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92608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2：表格版式识别与模板路由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694944"/>
            <a:ext cx="868680" cy="73152"/>
          </a:xfrm>
          <a:prstGeom prst="roundRect">
            <a:avLst>
              <a:gd name="adj" fmla="val 37500"/>
            </a:avLst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566928"/>
            <a:ext cx="9052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目标：先判断表格属于哪一类结构，再调用相应模板，避免不同版式被同一规则强行处理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0561320" y="347472"/>
            <a:ext cx="1115568" cy="256032"/>
          </a:xfrm>
          <a:prstGeom prst="roundRect">
            <a:avLst>
              <a:gd name="adj" fmla="val 28571"/>
            </a:avLst>
          </a:prstGeom>
          <a:solidFill>
            <a:srgbClr val="1A9D8F"/>
          </a:solidFill>
          <a:ln w="12700">
            <a:solidFill>
              <a:srgbClr val="1A9D8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61320" y="374904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模块2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50749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" y="1097280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模块说明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667512" y="1353312"/>
            <a:ext cx="4745736" cy="4114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713232" y="1371600"/>
            <a:ext cx="658368" cy="219456"/>
          </a:xfrm>
          <a:prstGeom prst="roundRect">
            <a:avLst>
              <a:gd name="adj" fmla="val 37500"/>
            </a:avLst>
          </a:prstGeom>
          <a:solidFill>
            <a:srgbClr val="2C6ECB"/>
          </a:solidFill>
          <a:ln w="12700">
            <a:solidFill>
              <a:srgbClr val="2C6EC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397203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731520" y="1723644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1664208"/>
            <a:ext cx="4361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表格高清截图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731520" y="2107692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048256"/>
            <a:ext cx="4361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已有模板库与典型版式样例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713232" y="2542032"/>
            <a:ext cx="658368" cy="219456"/>
          </a:xfrm>
          <a:prstGeom prst="roundRect">
            <a:avLst>
              <a:gd name="adj" fmla="val 37500"/>
            </a:avLst>
          </a:prstGeom>
          <a:solidFill>
            <a:srgbClr val="1A9D8F"/>
          </a:solidFill>
          <a:ln w="12700">
            <a:solidFill>
              <a:srgbClr val="1A9D8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567635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731520" y="2894076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2834640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比较表格整体布局：横向铺展、纵向罗列或多级嵌套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731520" y="3259836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3200400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将表格分流到 FORMAT_A / FORMAT_B / UNKNOWN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731520" y="3625596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3566160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为后续抽取提供模板编号和读取逻辑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713232" y="4206240"/>
            <a:ext cx="658368" cy="219456"/>
          </a:xfrm>
          <a:prstGeom prst="roundRect">
            <a:avLst>
              <a:gd name="adj" fmla="val 37500"/>
            </a:avLst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231843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731520" y="4558284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4498848"/>
            <a:ext cx="4361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格式标签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731520" y="4905756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" y="4846320"/>
            <a:ext cx="4361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对应模板编号</a:t>
            </a:r>
            <a:endParaRPr lang="en-US" sz="1130" dirty="0"/>
          </a:p>
        </p:txBody>
      </p:sp>
      <p:sp>
        <p:nvSpPr>
          <p:cNvPr id="30" name="Shape 28"/>
          <p:cNvSpPr/>
          <p:nvPr/>
        </p:nvSpPr>
        <p:spPr>
          <a:xfrm>
            <a:off x="731520" y="5253228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5193792"/>
            <a:ext cx="4361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未知格式标记</a:t>
            </a:r>
            <a:endParaRPr lang="en-US" sz="1130" dirty="0"/>
          </a:p>
        </p:txBody>
      </p:sp>
      <p:sp>
        <p:nvSpPr>
          <p:cNvPr id="32" name="Shape 30"/>
          <p:cNvSpPr/>
          <p:nvPr/>
        </p:nvSpPr>
        <p:spPr>
          <a:xfrm>
            <a:off x="731520" y="5285232"/>
            <a:ext cx="4617720" cy="694944"/>
          </a:xfrm>
          <a:prstGeom prst="roundRect">
            <a:avLst>
              <a:gd name="adj" fmla="val 10526"/>
            </a:avLst>
          </a:prstGeom>
          <a:solidFill>
            <a:srgbClr val="FFF1E2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96112" y="5394960"/>
            <a:ext cx="4288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9A5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例子怎么讲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896112" y="5650992"/>
            <a:ext cx="428853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例：横向铺展的主量元素表走 FORMAT_A；纵向罗列的样品属性表走 FORMAT_B；多级表头或异形表先标记 UNKNOWN，留给优化模块处理。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806440" y="987552"/>
            <a:ext cx="5897880" cy="4992624"/>
          </a:xfrm>
          <a:prstGeom prst="roundRect">
            <a:avLst>
              <a:gd name="adj" fmla="val 1465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971032" y="1097280"/>
            <a:ext cx="5568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模块示例：三种典型路由结果</a:t>
            </a:r>
            <a:endParaRPr lang="en-US" sz="1420" dirty="0"/>
          </a:p>
        </p:txBody>
      </p:sp>
      <p:sp>
        <p:nvSpPr>
          <p:cNvPr id="37" name="Text 35"/>
          <p:cNvSpPr/>
          <p:nvPr/>
        </p:nvSpPr>
        <p:spPr>
          <a:xfrm>
            <a:off x="5971032" y="1353312"/>
            <a:ext cx="5568696" cy="4535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endParaRPr lang="en-US" sz="1140" dirty="0"/>
          </a:p>
        </p:txBody>
      </p:sp>
      <p:sp>
        <p:nvSpPr>
          <p:cNvPr id="38" name="Shape 36"/>
          <p:cNvSpPr/>
          <p:nvPr/>
        </p:nvSpPr>
        <p:spPr>
          <a:xfrm>
            <a:off x="6062472" y="1554480"/>
            <a:ext cx="1600200" cy="1737360"/>
          </a:xfrm>
          <a:prstGeom prst="roundRect">
            <a:avLst>
              <a:gd name="adj" fmla="val 4571"/>
            </a:avLst>
          </a:prstGeom>
          <a:solidFill>
            <a:srgbClr val="EAF1FB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227064" y="1664208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FORMAT_A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227064" y="1920240"/>
            <a:ext cx="1271016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横向铺展型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63640" y="2148840"/>
            <a:ext cx="1188720" cy="731520"/>
          </a:xfrm>
          <a:prstGeom prst="rect">
            <a:avLst/>
          </a:prstGeom>
          <a:solidFill>
            <a:srgbClr val="FCFCFC"/>
          </a:solidFill>
          <a:ln w="12700">
            <a:solidFill>
              <a:srgbClr val="7B879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72984" y="1554480"/>
            <a:ext cx="1600200" cy="1737360"/>
          </a:xfrm>
          <a:prstGeom prst="roundRect">
            <a:avLst>
              <a:gd name="adj" fmla="val 4571"/>
            </a:avLst>
          </a:prstGeom>
          <a:solidFill>
            <a:srgbClr val="E7F7F4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037576" y="1664208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FORMAT_B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8037576" y="1920240"/>
            <a:ext cx="1271016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纵向罗列型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284464" y="2084832"/>
            <a:ext cx="822960" cy="914400"/>
          </a:xfrm>
          <a:prstGeom prst="rect">
            <a:avLst/>
          </a:prstGeom>
          <a:solidFill>
            <a:srgbClr val="FCFCFC"/>
          </a:solidFill>
          <a:ln w="12700">
            <a:solidFill>
              <a:srgbClr val="7B879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683496" y="1554480"/>
            <a:ext cx="1600200" cy="1737360"/>
          </a:xfrm>
          <a:prstGeom prst="roundRect">
            <a:avLst>
              <a:gd name="adj" fmla="val 4571"/>
            </a:avLst>
          </a:prstGeom>
          <a:solidFill>
            <a:srgbClr val="FFF1E2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9848088" y="1664208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UNKNOWN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9848088" y="1920240"/>
            <a:ext cx="1271016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异形/嵌套表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9866376" y="2148840"/>
            <a:ext cx="1143000" cy="530352"/>
          </a:xfrm>
          <a:prstGeom prst="rect">
            <a:avLst/>
          </a:prstGeom>
          <a:solidFill>
            <a:srgbClr val="FCFCFC"/>
          </a:solidFill>
          <a:ln w="12700">
            <a:solidFill>
              <a:srgbClr val="7B879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866376" y="2148840"/>
            <a:ext cx="566928" cy="182880"/>
          </a:xfrm>
          <a:prstGeom prst="rect">
            <a:avLst/>
          </a:prstGeom>
          <a:solidFill>
            <a:srgbClr val="FFF7F7"/>
          </a:solidFill>
          <a:ln w="12700">
            <a:solidFill>
              <a:srgbClr val="C85B5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460736" y="278892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C8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多级表头</a:t>
            </a:r>
            <a:endParaRPr lang="en-US" sz="780" dirty="0"/>
          </a:p>
        </p:txBody>
      </p:sp>
      <p:sp>
        <p:nvSpPr>
          <p:cNvPr id="70" name="Shape 68"/>
          <p:cNvSpPr/>
          <p:nvPr/>
        </p:nvSpPr>
        <p:spPr>
          <a:xfrm>
            <a:off x="7498080" y="4224528"/>
            <a:ext cx="384048" cy="256032"/>
          </a:xfrm>
          <a:prstGeom prst="chevron">
            <a:avLst/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308592" y="4224528"/>
            <a:ext cx="384048" cy="256032"/>
          </a:xfrm>
          <a:prstGeom prst="chevron">
            <a:avLst/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217920" y="4645152"/>
            <a:ext cx="1207008" cy="256032"/>
          </a:xfrm>
          <a:prstGeom prst="roundRect">
            <a:avLst>
              <a:gd name="adj" fmla="val 32143"/>
            </a:avLst>
          </a:prstGeom>
          <a:solidFill>
            <a:srgbClr val="2C6ECB"/>
          </a:solidFill>
          <a:ln w="12700">
            <a:solidFill>
              <a:srgbClr val="2C6ECB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17920" y="4670755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横向模板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8028432" y="4645152"/>
            <a:ext cx="1207008" cy="256032"/>
          </a:xfrm>
          <a:prstGeom prst="roundRect">
            <a:avLst>
              <a:gd name="adj" fmla="val 32143"/>
            </a:avLst>
          </a:prstGeom>
          <a:solidFill>
            <a:srgbClr val="1A9D8F"/>
          </a:solidFill>
          <a:ln w="12700">
            <a:solidFill>
              <a:srgbClr val="1A9D8F">
                <a:alpha val="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028432" y="4670755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纵向模板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9838944" y="4645152"/>
            <a:ext cx="1417320" cy="256032"/>
          </a:xfrm>
          <a:prstGeom prst="roundRect">
            <a:avLst>
              <a:gd name="adj" fmla="val 32143"/>
            </a:avLst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838944" y="4670755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进入优化模块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438912" y="6355080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F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该模块的价值在于“先分类，后提取”，从源头减少字段映射错误。</a:t>
            </a:r>
            <a:endParaRPr lang="en-US" sz="920" dirty="0"/>
          </a:p>
        </p:txBody>
      </p:sp>
      <p:sp>
        <p:nvSpPr>
          <p:cNvPr id="7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28232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793A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92608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3：带完整性约束的结构化抽取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694944"/>
            <a:ext cx="868680" cy="73152"/>
          </a:xfrm>
          <a:prstGeom prst="roundRect">
            <a:avLst>
              <a:gd name="adj" fmla="val 37500"/>
            </a:avLst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566928"/>
            <a:ext cx="9052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目标：在模板规则和维度约束下，生成可校验、可入库的标准化 JSON 结果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0561320" y="347472"/>
            <a:ext cx="1115568" cy="256032"/>
          </a:xfrm>
          <a:prstGeom prst="roundRect">
            <a:avLst>
              <a:gd name="adj" fmla="val 28571"/>
            </a:avLst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61320" y="374904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模块3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525780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" y="1097280"/>
            <a:ext cx="4928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模块说明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667512" y="1353312"/>
            <a:ext cx="4928616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713232" y="1371600"/>
            <a:ext cx="658368" cy="219456"/>
          </a:xfrm>
          <a:prstGeom prst="roundRect">
            <a:avLst>
              <a:gd name="adj" fmla="val 37500"/>
            </a:avLst>
          </a:prstGeom>
          <a:solidFill>
            <a:srgbClr val="2C6ECB"/>
          </a:solidFill>
          <a:ln w="12700">
            <a:solidFill>
              <a:srgbClr val="2C6EC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397203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731520" y="1723644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1664208"/>
            <a:ext cx="4407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表格图像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731520" y="2071116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011680"/>
            <a:ext cx="4407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 文本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731520" y="2418588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2359152"/>
            <a:ext cx="4407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模板规则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731520" y="2766060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2706624"/>
            <a:ext cx="4407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目标维度（N、M）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713232" y="2743200"/>
            <a:ext cx="658368" cy="219456"/>
          </a:xfrm>
          <a:prstGeom prst="roundRect">
            <a:avLst>
              <a:gd name="adj" fmla="val 37500"/>
            </a:avLst>
          </a:prstGeom>
          <a:solidFill>
            <a:srgbClr val="1A9D8F"/>
          </a:solidFill>
          <a:ln w="12700">
            <a:solidFill>
              <a:srgbClr val="1A9D8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2768803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关键约束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731520" y="3095244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3035808"/>
            <a:ext cx="4453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显式告知原表共有多少样品、多少字段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731520" y="3442716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3383280"/>
            <a:ext cx="4453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禁止使用“...”或中途终止输出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731520" y="3790188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3730752"/>
            <a:ext cx="4453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空白项、短横线统一写为 null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731520" y="4137660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" y="4078224"/>
            <a:ext cx="4453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严格按字段顺序生成 JSON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713232" y="4608576"/>
            <a:ext cx="658368" cy="219456"/>
          </a:xfrm>
          <a:prstGeom prst="roundRect">
            <a:avLst>
              <a:gd name="adj" fmla="val 37500"/>
            </a:avLst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4634179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731520" y="4960620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6112" y="4901184"/>
            <a:ext cx="4407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 JSON 数组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731520" y="5308092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5248656"/>
            <a:ext cx="4407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每条记录对应一个样品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731520" y="5655564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" y="5596128"/>
            <a:ext cx="4407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每个字段对应一个元素或指标</a:t>
            </a:r>
            <a:endParaRPr lang="en-US" sz="1120" dirty="0"/>
          </a:p>
        </p:txBody>
      </p:sp>
      <p:sp>
        <p:nvSpPr>
          <p:cNvPr id="38" name="Shape 36"/>
          <p:cNvSpPr/>
          <p:nvPr/>
        </p:nvSpPr>
        <p:spPr>
          <a:xfrm>
            <a:off x="5989320" y="987552"/>
            <a:ext cx="571500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153912" y="1097280"/>
            <a:ext cx="5385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模块示例：约束前后差异</a:t>
            </a:r>
            <a:endParaRPr lang="en-US" sz="1420" dirty="0"/>
          </a:p>
        </p:txBody>
      </p:sp>
      <p:sp>
        <p:nvSpPr>
          <p:cNvPr id="40" name="Text 38"/>
          <p:cNvSpPr/>
          <p:nvPr/>
        </p:nvSpPr>
        <p:spPr>
          <a:xfrm>
            <a:off x="6153912" y="1353312"/>
            <a:ext cx="5385816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endParaRPr lang="en-US" sz="1140" dirty="0"/>
          </a:p>
        </p:txBody>
      </p:sp>
      <p:sp>
        <p:nvSpPr>
          <p:cNvPr id="41" name="Shape 39"/>
          <p:cNvSpPr/>
          <p:nvPr/>
        </p:nvSpPr>
        <p:spPr>
          <a:xfrm>
            <a:off x="6236208" y="1417320"/>
            <a:ext cx="1078992" cy="256032"/>
          </a:xfrm>
          <a:prstGeom prst="roundRect">
            <a:avLst>
              <a:gd name="adj" fmla="val 32143"/>
            </a:avLst>
          </a:prstGeom>
          <a:solidFill>
            <a:srgbClr val="FBECEC"/>
          </a:solidFill>
          <a:ln w="12700">
            <a:solidFill>
              <a:srgbClr val="FBECEC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36208" y="1442923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无强约束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424928" y="14538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可能只输出前 10 条样品，后续记录被省略；空白字段被直接跳过。</a:t>
            </a:r>
            <a:endParaRPr lang="en-US" sz="1040" dirty="0"/>
          </a:p>
        </p:txBody>
      </p:sp>
      <p:sp>
        <p:nvSpPr>
          <p:cNvPr id="44" name="Shape 42"/>
          <p:cNvSpPr/>
          <p:nvPr/>
        </p:nvSpPr>
        <p:spPr>
          <a:xfrm>
            <a:off x="6236208" y="1810512"/>
            <a:ext cx="1078992" cy="256032"/>
          </a:xfrm>
          <a:prstGeom prst="roundRect">
            <a:avLst>
              <a:gd name="adj" fmla="val 32143"/>
            </a:avLst>
          </a:prstGeom>
          <a:solidFill>
            <a:srgbClr val="E7F7F4"/>
          </a:solidFill>
          <a:ln w="12700">
            <a:solidFill>
              <a:srgbClr val="E7F7F4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36208" y="1836115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6C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加约束后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424928" y="184708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要求逐行逐列遍历到 N 条记录，并显式保留 null，输出结果可直接进入程序校验。</a:t>
            </a:r>
            <a:endParaRPr lang="en-US" sz="1040" dirty="0"/>
          </a:p>
        </p:txBody>
      </p:sp>
      <p:sp>
        <p:nvSpPr>
          <p:cNvPr id="47" name="Shape 45"/>
          <p:cNvSpPr/>
          <p:nvPr/>
        </p:nvSpPr>
        <p:spPr>
          <a:xfrm>
            <a:off x="6181344" y="2267712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EAF1FB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345936" y="2377440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强约束提示词片段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345936" y="2633472"/>
            <a:ext cx="2322576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原表共有 18 个样品、14 个字段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严禁使用“...”或中途截断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空白项、短横线一律写为 null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必须逐行逐列遍历到最后一条记录</a:t>
            </a:r>
            <a:endParaRPr lang="en-US" sz="1030" dirty="0"/>
          </a:p>
        </p:txBody>
      </p:sp>
      <p:sp>
        <p:nvSpPr>
          <p:cNvPr id="50" name="Shape 48"/>
          <p:cNvSpPr/>
          <p:nvPr/>
        </p:nvSpPr>
        <p:spPr>
          <a:xfrm>
            <a:off x="9061704" y="2267712"/>
            <a:ext cx="2880360" cy="1920240"/>
          </a:xfrm>
          <a:prstGeom prst="roundRect">
            <a:avLst>
              <a:gd name="adj" fmla="val 3810"/>
            </a:avLst>
          </a:prstGeom>
          <a:solidFill>
            <a:srgbClr val="E7F7F4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9226296" y="2377440"/>
            <a:ext cx="2551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结构化输出示例（JSON）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226296" y="2633472"/>
            <a:ext cx="2551176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"Sample_ID": "A01",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"SiO2": 48.2,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"MgO": 7.4,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"Cr": 225,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"Nd": null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}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181344" y="4590288"/>
            <a:ext cx="5285232" cy="877824"/>
          </a:xfrm>
          <a:prstGeom prst="roundRect">
            <a:avLst>
              <a:gd name="adj" fmla="val 8333"/>
            </a:avLst>
          </a:prstGeom>
          <a:solidFill>
            <a:srgbClr val="EAF1FB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345936" y="4700016"/>
            <a:ext cx="4956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例子怎么讲</a:t>
            </a:r>
            <a:endParaRPr lang="en-US" sz="1230" dirty="0"/>
          </a:p>
        </p:txBody>
      </p:sp>
      <p:sp>
        <p:nvSpPr>
          <p:cNvPr id="55" name="Text 53"/>
          <p:cNvSpPr/>
          <p:nvPr/>
        </p:nvSpPr>
        <p:spPr>
          <a:xfrm>
            <a:off x="6345936" y="4956048"/>
            <a:ext cx="495604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例：原表共有 18 个样品 × 14 个字段。若模型只输出前 10 个样品，第四模块会立刻拦截；因此，完整性约束要前置到抽取阶段，而不是完全依赖事后补救。</a:t>
            </a:r>
            <a:endParaRPr lang="en-US" sz="1060" dirty="0"/>
          </a:p>
        </p:txBody>
      </p:sp>
      <p:sp>
        <p:nvSpPr>
          <p:cNvPr id="56" name="Text 54"/>
          <p:cNvSpPr/>
          <p:nvPr/>
        </p:nvSpPr>
        <p:spPr>
          <a:xfrm>
            <a:off x="438912" y="6355080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F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这一模块的核心不是“让模型更聪明”，而是让模型在明确纪律下更可控。</a:t>
            </a:r>
            <a:endParaRPr lang="en-US" sz="920" dirty="0"/>
          </a:p>
        </p:txBody>
      </p:sp>
      <p:sp>
        <p:nvSpPr>
          <p:cNvPr id="5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28232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793A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92608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4：分层分类自动校验机制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694944"/>
            <a:ext cx="868680" cy="73152"/>
          </a:xfrm>
          <a:prstGeom prst="roundRect">
            <a:avLst>
              <a:gd name="adj" fmla="val 37500"/>
            </a:avLst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566928"/>
            <a:ext cx="9052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目标：不只判断“有没有输出结果”，而是判断“是否提全、是否提对、是否基本合理”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0561320" y="347472"/>
            <a:ext cx="1115568" cy="256032"/>
          </a:xfrm>
          <a:prstGeom prst="roundRect">
            <a:avLst>
              <a:gd name="adj" fmla="val 28571"/>
            </a:avLst>
          </a:prstGeom>
          <a:solidFill>
            <a:srgbClr val="2C6ECB"/>
          </a:solidFill>
          <a:ln w="12700">
            <a:solidFill>
              <a:srgbClr val="2C6EC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61320" y="374904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模块4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525780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" y="1097280"/>
            <a:ext cx="4928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模块说明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667512" y="1353312"/>
            <a:ext cx="4928616" cy="4526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731520" y="1389888"/>
            <a:ext cx="1078992" cy="256032"/>
          </a:xfrm>
          <a:prstGeom prst="roundRect">
            <a:avLst>
              <a:gd name="adj" fmla="val 32143"/>
            </a:avLst>
          </a:prstGeom>
          <a:solidFill>
            <a:srgbClr val="2C6ECB"/>
          </a:solidFill>
          <a:ln w="12700">
            <a:solidFill>
              <a:srgbClr val="2C6EC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415491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结构完整性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143560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检查样品数、字段数、空值保留与记录完整性，回答“有没有提全”。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2084832"/>
            <a:ext cx="1078992" cy="256032"/>
          </a:xfrm>
          <a:prstGeom prst="roundRect">
            <a:avLst>
              <a:gd name="adj" fmla="val 32143"/>
            </a:avLst>
          </a:prstGeom>
          <a:solidFill>
            <a:srgbClr val="1A9D8F"/>
          </a:solidFill>
          <a:ln w="12700">
            <a:solidFill>
              <a:srgbClr val="1A9D8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110435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格式一致性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21305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检查字段名、单位类型、数值格式和列映射关系，回答“有没有提错位”。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2779776"/>
            <a:ext cx="1078992" cy="256032"/>
          </a:xfrm>
          <a:prstGeom prst="roundRect">
            <a:avLst>
              <a:gd name="adj" fmla="val 32143"/>
            </a:avLst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805379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领域合理性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20240" y="28254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按主量/微量/REE/同位素分类型执行条件校验，回答“结果是否基本可信”。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3456432"/>
            <a:ext cx="4526280" cy="868680"/>
          </a:xfrm>
          <a:prstGeom prst="roundRect">
            <a:avLst>
              <a:gd name="adj" fmla="val 8421"/>
            </a:avLst>
          </a:prstGeom>
          <a:solidFill>
            <a:srgbClr val="FFF1E2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96112" y="3566160"/>
            <a:ext cx="4197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9A5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为什么不能只做“主量加和”</a:t>
            </a:r>
            <a:endParaRPr lang="en-US" sz="1230" dirty="0"/>
          </a:p>
        </p:txBody>
      </p:sp>
      <p:sp>
        <p:nvSpPr>
          <p:cNvPr id="21" name="Text 19"/>
          <p:cNvSpPr/>
          <p:nvPr/>
        </p:nvSpPr>
        <p:spPr>
          <a:xfrm>
            <a:off x="896112" y="3822192"/>
            <a:ext cx="419709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因为全岩数据库不仅包含主量元素表，还包含微量元素、稀土元素和同位素数据。合理性校验必须分类型、分层级执行。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731520" y="4526280"/>
            <a:ext cx="4526280" cy="960120"/>
          </a:xfrm>
          <a:prstGeom prst="roundRect">
            <a:avLst>
              <a:gd name="adj" fmla="val 7619"/>
            </a:avLst>
          </a:prstGeom>
          <a:solidFill>
            <a:srgbClr val="E7F7F4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96112" y="4636008"/>
            <a:ext cx="4197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0E6C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执行逻辑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896112" y="4892040"/>
            <a:ext cx="419709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结构完整性 = 硬约束；格式一致性 = 强质量控制；领域合理性 = 分类执行，其中显然错误者拦截，可疑者进入告警/复核。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5989320" y="987552"/>
            <a:ext cx="571500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53912" y="1097280"/>
            <a:ext cx="5385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模块示例：校验如何发现问题</a:t>
            </a:r>
            <a:endParaRPr lang="en-US" sz="1420" dirty="0"/>
          </a:p>
        </p:txBody>
      </p:sp>
      <p:sp>
        <p:nvSpPr>
          <p:cNvPr id="27" name="Text 25"/>
          <p:cNvSpPr/>
          <p:nvPr/>
        </p:nvSpPr>
        <p:spPr>
          <a:xfrm>
            <a:off x="6153912" y="1353312"/>
            <a:ext cx="5385816" cy="4526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endParaRPr lang="en-US" sz="1140" dirty="0"/>
          </a:p>
        </p:txBody>
      </p:sp>
      <p:sp>
        <p:nvSpPr>
          <p:cNvPr id="28" name="Shape 26"/>
          <p:cNvSpPr/>
          <p:nvPr/>
        </p:nvSpPr>
        <p:spPr>
          <a:xfrm>
            <a:off x="6217920" y="1444752"/>
            <a:ext cx="1325880" cy="237744"/>
          </a:xfrm>
          <a:prstGeom prst="roundRect">
            <a:avLst>
              <a:gd name="adj" fmla="val 34615"/>
            </a:avLst>
          </a:prstGeom>
          <a:solidFill>
            <a:srgbClr val="2C6ECB"/>
          </a:solidFill>
          <a:ln w="12700">
            <a:solidFill>
              <a:srgbClr val="2C6EC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1470355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结构完整性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7680960" y="147218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期望 18 个样品，实际仅提取 10 个 → 直接拦截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6217920" y="1828800"/>
            <a:ext cx="1325880" cy="237744"/>
          </a:xfrm>
          <a:prstGeom prst="roundRect">
            <a:avLst>
              <a:gd name="adj" fmla="val 34615"/>
            </a:avLst>
          </a:prstGeom>
          <a:solidFill>
            <a:srgbClr val="1A9D8F"/>
          </a:solidFill>
          <a:ln w="12700">
            <a:solidFill>
              <a:srgbClr val="1A9D8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1854403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格式一致性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7680960" y="185623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wt.% 被误读为 ppm；小数点错位（0.56 → 56）→ 直接拦截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6217920" y="2212848"/>
            <a:ext cx="1325880" cy="237744"/>
          </a:xfrm>
          <a:prstGeom prst="roundRect">
            <a:avLst>
              <a:gd name="adj" fmla="val 34615"/>
            </a:avLst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2238451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领域合理性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7680960" y="224028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主量总和 134.6 wt.% → 明显错误；Cr = -12 ppm → 进入告警/复核</a:t>
            </a:r>
            <a:endParaRPr lang="en-US" sz="102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679192"/>
          <a:ext cx="4617720" cy="1133856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案例</a:t>
                      </a:r>
                      <a:endParaRPr lang="en-US" sz="9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发现问题</a:t>
                      </a:r>
                      <a:endParaRPr lang="en-US" sz="9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动作</a:t>
                      </a:r>
                      <a:endParaRPr lang="en-US" sz="9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6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9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6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 → 10 条记录，明显漏提</a:t>
                      </a:r>
                      <a:endParaRPr lang="en-US" sz="9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6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硬拦截</a:t>
                      </a:r>
                      <a:endParaRPr lang="en-US" sz="9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6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9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6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ppm / wt.% 单位混淆</a:t>
                      </a:r>
                      <a:endParaRPr lang="en-US" sz="9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6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硬拦截</a:t>
                      </a:r>
                      <a:endParaRPr lang="en-US" sz="9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6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9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6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主量总和超范围</a:t>
                      </a:r>
                      <a:endParaRPr lang="en-US" sz="9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6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硬拦截</a:t>
                      </a:r>
                      <a:endParaRPr lang="en-US" sz="9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6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9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6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微量元素极端异常</a:t>
                      </a:r>
                      <a:endParaRPr lang="en-US" sz="9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6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软告警</a:t>
                      </a:r>
                      <a:endParaRPr lang="en-US" sz="9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8" name="Text 35"/>
          <p:cNvSpPr/>
          <p:nvPr/>
        </p:nvSpPr>
        <p:spPr>
          <a:xfrm>
            <a:off x="438912" y="6355080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F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第四模块是系统从“能抽出来”走向“能保证质量”的关键。</a:t>
            </a:r>
            <a:endParaRPr lang="en-US" sz="92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28232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793A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92608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5：闭环反思与模板自演化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694944"/>
            <a:ext cx="868680" cy="73152"/>
          </a:xfrm>
          <a:prstGeom prst="roundRect">
            <a:avLst>
              <a:gd name="adj" fmla="val 37500"/>
            </a:avLst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566928"/>
            <a:ext cx="9052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目标：当系统遇到未知格式或抽取失败时，不是简单报错，而是自动分析原因、修订模板并重试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0561320" y="347472"/>
            <a:ext cx="1115568" cy="256032"/>
          </a:xfrm>
          <a:prstGeom prst="roundRect">
            <a:avLst>
              <a:gd name="adj" fmla="val 28571"/>
            </a:avLst>
          </a:prstGeom>
          <a:solidFill>
            <a:srgbClr val="1A9D8F"/>
          </a:solidFill>
          <a:ln w="12700">
            <a:solidFill>
              <a:srgbClr val="1A9D8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61320" y="374904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模块5</a:t>
            </a:r>
            <a:endParaRPr lang="en-US" sz="1020" dirty="0"/>
          </a:p>
        </p:txBody>
      </p:sp>
      <p:pic>
        <p:nvPicPr>
          <p:cNvPr id="7" name="Image 0" descr="/mnt/data/geochem_flowcharts/figure2_closed_loop_optimiz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638942"/>
            <a:ext cx="6309360" cy="395501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040880" y="1078992"/>
            <a:ext cx="4617720" cy="786384"/>
          </a:xfrm>
          <a:prstGeom prst="roundRect">
            <a:avLst>
              <a:gd name="adj" fmla="val 9302"/>
            </a:avLst>
          </a:prstGeom>
          <a:solidFill>
            <a:srgbClr val="EAF1FB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205472" y="1188720"/>
            <a:ext cx="4288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模块说明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7205472" y="1444752"/>
            <a:ext cx="428853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把失败样本转化为模板升级机会，使系统从静态规则库转向可持续优化的动态系统。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040880" y="2066544"/>
            <a:ext cx="4617720" cy="950976"/>
          </a:xfrm>
          <a:prstGeom prst="roundRect">
            <a:avLst>
              <a:gd name="adj" fmla="val 7692"/>
            </a:avLst>
          </a:prstGeom>
          <a:solidFill>
            <a:srgbClr val="FFF1E2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205472" y="2176272"/>
            <a:ext cx="4288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A5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失败案例示例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205472" y="2432304"/>
            <a:ext cx="428853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7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拦截报告：期望 18 个样品，实际仅提取 10 个。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初步判断：第 10 个样品后出现表注换行，模型误把表注当作表格结束。</a:t>
            </a:r>
            <a:endParaRPr lang="en-US" sz="1070" dirty="0"/>
          </a:p>
        </p:txBody>
      </p:sp>
      <p:sp>
        <p:nvSpPr>
          <p:cNvPr id="14" name="Shape 11"/>
          <p:cNvSpPr/>
          <p:nvPr/>
        </p:nvSpPr>
        <p:spPr>
          <a:xfrm>
            <a:off x="7040880" y="3255264"/>
            <a:ext cx="4617720" cy="1024128"/>
          </a:xfrm>
          <a:prstGeom prst="roundRect">
            <a:avLst>
              <a:gd name="adj" fmla="val 7143"/>
            </a:avLst>
          </a:prstGeom>
          <a:solidFill>
            <a:srgbClr val="E7F7F4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205472" y="3364992"/>
            <a:ext cx="4288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6C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模板修订示例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205472" y="3621024"/>
            <a:ext cx="42885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7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旧模板：逐行遍历表格。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新版模板 v1.1：若遇表注、换行符或跨页断裂，不得停止，必须继续遍历，直到记录数达到目标 N。</a:t>
            </a:r>
            <a:endParaRPr lang="en-US" sz="1070" dirty="0"/>
          </a:p>
        </p:txBody>
      </p:sp>
      <p:sp>
        <p:nvSpPr>
          <p:cNvPr id="17" name="Shape 14"/>
          <p:cNvSpPr/>
          <p:nvPr/>
        </p:nvSpPr>
        <p:spPr>
          <a:xfrm>
            <a:off x="7040880" y="4517136"/>
            <a:ext cx="4617720" cy="896112"/>
          </a:xfrm>
          <a:prstGeom prst="roundRect">
            <a:avLst>
              <a:gd name="adj" fmla="val 8163"/>
            </a:avLst>
          </a:prstGeom>
          <a:solidFill>
            <a:srgbClr val="EAF1FB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205472" y="4626864"/>
            <a:ext cx="4288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重试结果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205472" y="4882896"/>
            <a:ext cx="428853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7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重新抽取后获得 18/18 条记录，并通过结构完整性校验与格式一致性校验；新版模板被纳入模板库。</a:t>
            </a:r>
            <a:endParaRPr lang="en-US" sz="1070" dirty="0"/>
          </a:p>
        </p:txBody>
      </p:sp>
      <p:sp>
        <p:nvSpPr>
          <p:cNvPr id="20" name="Shape 17"/>
          <p:cNvSpPr/>
          <p:nvPr/>
        </p:nvSpPr>
        <p:spPr>
          <a:xfrm>
            <a:off x="7040880" y="5550408"/>
            <a:ext cx="46177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205472" y="5660136"/>
            <a:ext cx="4288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一句话概括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205472" y="5916168"/>
            <a:ext cx="4288536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第五模块让系统具备“越用越稳”的能力。</a:t>
            </a:r>
            <a:endParaRPr lang="en-US" sz="1060" dirty="0"/>
          </a:p>
        </p:txBody>
      </p:sp>
      <p:sp>
        <p:nvSpPr>
          <p:cNvPr id="23" name="Text 20"/>
          <p:cNvSpPr/>
          <p:nvPr/>
        </p:nvSpPr>
        <p:spPr>
          <a:xfrm>
            <a:off x="438912" y="6355080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F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答辩时可强调：闭环优化是本研究区别于“单次抽表流程”的重要特征。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28232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793A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92608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6：数据展平、字段对齐与标准化入库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694944"/>
            <a:ext cx="868680" cy="73152"/>
          </a:xfrm>
          <a:prstGeom prst="roundRect">
            <a:avLst>
              <a:gd name="adj" fmla="val 37500"/>
            </a:avLst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566928"/>
            <a:ext cx="9052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目标：把通过校验的结构化结果统一整理为可直接用于科研分析的数据库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0561320" y="347472"/>
            <a:ext cx="1115568" cy="256032"/>
          </a:xfrm>
          <a:prstGeom prst="roundRect">
            <a:avLst>
              <a:gd name="adj" fmla="val 28571"/>
            </a:avLst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61320" y="374904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模块6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52120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" y="1097280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模块说明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667512" y="1353312"/>
            <a:ext cx="4882896" cy="4434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731520" y="1371600"/>
            <a:ext cx="658368" cy="219456"/>
          </a:xfrm>
          <a:prstGeom prst="roundRect">
            <a:avLst>
              <a:gd name="adj" fmla="val 37500"/>
            </a:avLst>
          </a:prstGeom>
          <a:solidFill>
            <a:srgbClr val="2C6ECB"/>
          </a:solidFill>
          <a:ln w="12700">
            <a:solidFill>
              <a:srgbClr val="2C6EC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97203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749808" y="1723644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664208"/>
            <a:ext cx="4361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通过校验的 JSON 结果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749808" y="2089404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029968"/>
            <a:ext cx="4361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不同文献的字段集合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749808" y="2455164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395728"/>
            <a:ext cx="4361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统一命名规则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731520" y="2743200"/>
            <a:ext cx="658368" cy="219456"/>
          </a:xfrm>
          <a:prstGeom prst="roundRect">
            <a:avLst>
              <a:gd name="adj" fmla="val 37500"/>
            </a:avLst>
          </a:prstGeom>
          <a:solidFill>
            <a:srgbClr val="1A9D8F"/>
          </a:solidFill>
          <a:ln w="12700">
            <a:solidFill>
              <a:srgbClr val="1A9D8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768803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49808" y="3095244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035808"/>
            <a:ext cx="4361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json_normalize 将嵌套 JSON 展平为二维表结构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749808" y="3461004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401568"/>
            <a:ext cx="4361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构建跨文献字段全集，统一字段命名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749808" y="3826764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767328"/>
            <a:ext cx="4361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未测字段统一填充为 NaN，保证列结构一致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749808" y="4192524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133088"/>
            <a:ext cx="4361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纵向拼接样品记录，形成标准数据矩阵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731520" y="4773168"/>
            <a:ext cx="658368" cy="219456"/>
          </a:xfrm>
          <a:prstGeom prst="roundRect">
            <a:avLst>
              <a:gd name="adj" fmla="val 37500"/>
            </a:avLst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798771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749808" y="5125212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5065776"/>
            <a:ext cx="4361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统一格式 Excel / 数据库表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749808" y="5490972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5431536"/>
            <a:ext cx="4361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可直接用于图件绘制与定量分析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5989320" y="987552"/>
            <a:ext cx="57150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153912" y="1097280"/>
            <a:ext cx="5385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模块示例：字段全集对齐</a:t>
            </a:r>
            <a:endParaRPr lang="en-US" sz="1420" dirty="0"/>
          </a:p>
        </p:txBody>
      </p:sp>
      <p:sp>
        <p:nvSpPr>
          <p:cNvPr id="36" name="Text 34"/>
          <p:cNvSpPr/>
          <p:nvPr/>
        </p:nvSpPr>
        <p:spPr>
          <a:xfrm>
            <a:off x="6153912" y="1353312"/>
            <a:ext cx="5385816" cy="4434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endParaRPr lang="en-US" sz="114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554480"/>
          <a:ext cx="4709160" cy="969264"/>
        </p:xfrm>
        <a:graphic>
          <a:graphicData uri="http://schemas.openxmlformats.org/drawingml/2006/table">
            <a:tbl>
              <a:tblPr/>
              <a:tblGrid>
                <a:gridCol w="1207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Sample_ID</a:t>
                      </a:r>
                      <a:endParaRPr lang="en-US" sz="9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SiO2</a:t>
                      </a:r>
                      <a:endParaRPr lang="en-US" sz="9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MgO</a:t>
                      </a:r>
                      <a:endParaRPr lang="en-US" sz="9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</a:t>
                      </a:r>
                      <a:endParaRPr lang="en-US" sz="9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Nd</a:t>
                      </a:r>
                      <a:endParaRPr lang="en-US" sz="9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εNd(t)</a:t>
                      </a:r>
                      <a:endParaRPr lang="en-US" sz="9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Paper_A_A01</a:t>
                      </a:r>
                      <a:endParaRPr lang="en-US" sz="9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48.2</a:t>
                      </a:r>
                      <a:endParaRPr lang="en-US" sz="9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7.4</a:t>
                      </a:r>
                      <a:endParaRPr lang="en-US" sz="9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225</a:t>
                      </a:r>
                      <a:endParaRPr lang="en-US" sz="9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Paper_B_B03</a:t>
                      </a:r>
                      <a:endParaRPr lang="en-US" sz="9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49.0</a:t>
                      </a:r>
                      <a:endParaRPr lang="en-US" sz="9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6.8</a:t>
                      </a:r>
                      <a:endParaRPr lang="en-US" sz="9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210</a:t>
                      </a:r>
                      <a:endParaRPr lang="en-US" sz="9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18.5</a:t>
                      </a:r>
                      <a:endParaRPr lang="en-US" sz="9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+6.2</a:t>
                      </a:r>
                      <a:endParaRPr lang="en-US" sz="9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Paper_C_C11</a:t>
                      </a:r>
                      <a:endParaRPr lang="en-US" sz="9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46.7</a:t>
                      </a:r>
                      <a:endParaRPr lang="en-US" sz="9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8.1</a:t>
                      </a:r>
                      <a:endParaRPr lang="en-US" sz="9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190</a:t>
                      </a:r>
                      <a:endParaRPr lang="en-US" sz="9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NaN</a:t>
                      </a:r>
                      <a:endParaRPr lang="en-US" sz="9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+5.7</a:t>
                      </a:r>
                      <a:endParaRPr lang="en-US" sz="9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" name="Text 35"/>
          <p:cNvSpPr/>
          <p:nvPr/>
        </p:nvSpPr>
        <p:spPr>
          <a:xfrm>
            <a:off x="6217920" y="280720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5C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字段全集对齐思路：将不同文献的字段统一到同一列空间；未测字段用 NaN 填充，保证矩阵结构一致。</a:t>
            </a:r>
            <a:endParaRPr lang="en-US" sz="1020" dirty="0"/>
          </a:p>
        </p:txBody>
      </p:sp>
      <p:sp>
        <p:nvSpPr>
          <p:cNvPr id="39" name="Shape 36"/>
          <p:cNvSpPr/>
          <p:nvPr/>
        </p:nvSpPr>
        <p:spPr>
          <a:xfrm>
            <a:off x="6217920" y="3749040"/>
            <a:ext cx="5257800" cy="950976"/>
          </a:xfrm>
          <a:prstGeom prst="roundRect">
            <a:avLst>
              <a:gd name="adj" fmla="val 7692"/>
            </a:avLst>
          </a:prstGeom>
          <a:solidFill>
            <a:srgbClr val="EAF1FB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6382512" y="3858768"/>
            <a:ext cx="4928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例子怎么讲</a:t>
            </a:r>
            <a:endParaRPr lang="en-US" sz="1230" dirty="0"/>
          </a:p>
        </p:txBody>
      </p:sp>
      <p:sp>
        <p:nvSpPr>
          <p:cNvPr id="41" name="Text 38"/>
          <p:cNvSpPr/>
          <p:nvPr/>
        </p:nvSpPr>
        <p:spPr>
          <a:xfrm>
            <a:off x="6382512" y="4114800"/>
            <a:ext cx="492861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例：Paper_A 只给出主量与 Cr，Paper_B 还给出 Nd 和 εNd(t)。经过字段全集对齐后，未测字段统一记为 NaN，最终可以在同一数据库中并行管理。</a:t>
            </a:r>
            <a:endParaRPr lang="en-US" sz="1060" dirty="0"/>
          </a:p>
        </p:txBody>
      </p:sp>
      <p:sp>
        <p:nvSpPr>
          <p:cNvPr id="42" name="Shape 39"/>
          <p:cNvSpPr/>
          <p:nvPr/>
        </p:nvSpPr>
        <p:spPr>
          <a:xfrm>
            <a:off x="6217920" y="4901184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FFF1E2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6382512" y="5010912"/>
            <a:ext cx="4928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9A5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模块价值</a:t>
            </a:r>
            <a:endParaRPr lang="en-US" sz="1230" dirty="0"/>
          </a:p>
        </p:txBody>
      </p:sp>
      <p:sp>
        <p:nvSpPr>
          <p:cNvPr id="44" name="Text 41"/>
          <p:cNvSpPr/>
          <p:nvPr/>
        </p:nvSpPr>
        <p:spPr>
          <a:xfrm>
            <a:off x="6382512" y="5266944"/>
            <a:ext cx="492861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这一模块把“能通过校验的抽取结果”转化为“后续科研分析可直接调用的数据资产”。</a:t>
            </a:r>
            <a:endParaRPr lang="en-US" sz="1060" dirty="0"/>
          </a:p>
        </p:txBody>
      </p:sp>
      <p:sp>
        <p:nvSpPr>
          <p:cNvPr id="45" name="Text 42"/>
          <p:cNvSpPr/>
          <p:nvPr/>
        </p:nvSpPr>
        <p:spPr>
          <a:xfrm>
            <a:off x="438912" y="6355080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F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最后一步不是简单导出 Excel，而是建立统一字段体系，让数据库真正可用。</a:t>
            </a:r>
            <a:endParaRPr lang="en-US" sz="92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28232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793A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92608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单个表格的完整处理示例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694944"/>
            <a:ext cx="868680" cy="73152"/>
          </a:xfrm>
          <a:prstGeom prst="roundRect">
            <a:avLst>
              <a:gd name="adj" fmla="val 37500"/>
            </a:avLst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566928"/>
            <a:ext cx="9052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把六个模块串起来看，更容易理解系统如何从一页 PDF 最终走到数据库记录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0561320" y="347472"/>
            <a:ext cx="1115568" cy="256032"/>
          </a:xfrm>
          <a:prstGeom prst="roundRect">
            <a:avLst>
              <a:gd name="adj" fmla="val 28571"/>
            </a:avLst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61320" y="374904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020" dirty="0"/>
          </a:p>
        </p:txBody>
      </p:sp>
      <p:pic>
        <p:nvPicPr>
          <p:cNvPr id="7" name="Image 0" descr="/mnt/data/geochem_flowcharts/figure3_document_processing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873536"/>
            <a:ext cx="6720840" cy="33852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97280"/>
            <a:ext cx="4343400" cy="804672"/>
          </a:xfrm>
          <a:prstGeom prst="roundRect">
            <a:avLst>
              <a:gd name="adj" fmla="val 9091"/>
            </a:avLst>
          </a:prstGeom>
          <a:solidFill>
            <a:srgbClr val="EAF1FB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25512" y="1207008"/>
            <a:ext cx="4014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案例设定</a:t>
            </a:r>
            <a:endParaRPr lang="en-US" sz="1280" dirty="0"/>
          </a:p>
        </p:txBody>
      </p:sp>
      <p:sp>
        <p:nvSpPr>
          <p:cNvPr id="10" name="Text 7"/>
          <p:cNvSpPr/>
          <p:nvPr/>
        </p:nvSpPr>
        <p:spPr>
          <a:xfrm>
            <a:off x="7525512" y="1463040"/>
            <a:ext cx="401421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目标表格包含主量元素 + 微量元素字段，跨页续表，部分样品 Nd 字段缺测。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7479792" y="2235708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44384" y="2176272"/>
            <a:ext cx="3813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解析阶段：得到截图、Markdown 源码与 N/M 维度基准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7479792" y="2738628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44384" y="2679192"/>
            <a:ext cx="3813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路由阶段：判定表格属于横向模板 FORMAT_A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7479792" y="3241548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44384" y="3182112"/>
            <a:ext cx="3813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抽取阶段：在完整性约束下生成 JSON 记录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7479792" y="3744468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44384" y="3685032"/>
            <a:ext cx="3813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校验阶段：检查漏提、单位错误与合理性问题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7479792" y="4247388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44384" y="4187952"/>
            <a:ext cx="3813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优化阶段：若失败则修订模板并重试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7479792" y="4750308"/>
            <a:ext cx="100584" cy="10058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44384" y="4690872"/>
            <a:ext cx="3813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入库阶段：字段对齐后写入统一数据库</a:t>
            </a:r>
            <a:endParaRPr lang="en-US" sz="1080" dirty="0"/>
          </a:p>
        </p:txBody>
      </p:sp>
      <p:sp>
        <p:nvSpPr>
          <p:cNvPr id="23" name="Shape 20"/>
          <p:cNvSpPr/>
          <p:nvPr/>
        </p:nvSpPr>
        <p:spPr>
          <a:xfrm>
            <a:off x="7360920" y="5440680"/>
            <a:ext cx="4343400" cy="493776"/>
          </a:xfrm>
          <a:prstGeom prst="roundRect">
            <a:avLst>
              <a:gd name="adj" fmla="val 14815"/>
            </a:avLst>
          </a:prstGeom>
          <a:solidFill>
            <a:srgbClr val="E7F7F4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525512" y="5550408"/>
            <a:ext cx="4014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6C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这一页适合在答辩时做“收束”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525512" y="5806440"/>
            <a:ext cx="4014216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把前面讲过的模块重新串成一个完整故事。</a:t>
            </a:r>
            <a:endParaRPr lang="en-US" sz="1030" dirty="0"/>
          </a:p>
        </p:txBody>
      </p:sp>
      <p:sp>
        <p:nvSpPr>
          <p:cNvPr id="26" name="Text 23"/>
          <p:cNvSpPr/>
          <p:nvPr/>
        </p:nvSpPr>
        <p:spPr>
          <a:xfrm>
            <a:off x="438912" y="6355080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F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图3用于把分模块讲法重新汇总为“一个表格的完整处理链条”。</a:t>
            </a:r>
            <a:endParaRPr lang="en-US" sz="92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28232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793A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92608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创新点与预期成果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694944"/>
            <a:ext cx="868680" cy="73152"/>
          </a:xfrm>
          <a:prstGeom prst="roundRect">
            <a:avLst>
              <a:gd name="adj" fmla="val 37500"/>
            </a:avLst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566928"/>
            <a:ext cx="9052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从方法层面和系统层面总结本研究相较于传统方案的增量价值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0561320" y="347472"/>
            <a:ext cx="1115568" cy="256032"/>
          </a:xfrm>
          <a:prstGeom prst="roundRect">
            <a:avLst>
              <a:gd name="adj" fmla="val 28571"/>
            </a:avLst>
          </a:prstGeom>
          <a:solidFill>
            <a:srgbClr val="2C6ECB"/>
          </a:solidFill>
          <a:ln w="12700">
            <a:solidFill>
              <a:srgbClr val="2C6EC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61320" y="374904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553212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" y="1097280"/>
            <a:ext cx="5202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667512" y="1353312"/>
            <a:ext cx="5202936" cy="4526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749808" y="1417320"/>
            <a:ext cx="292608" cy="292608"/>
          </a:xfrm>
          <a:prstGeom prst="ellipse">
            <a:avLst/>
          </a:prstGeom>
          <a:solidFill>
            <a:srgbClr val="2C6ECB"/>
          </a:solidFill>
          <a:ln w="12700">
            <a:solidFill>
              <a:srgbClr val="2C6EC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463040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1143000" y="14447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图像—文本双模态协同解析，兼顾版式结构与语义内容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749808" y="2176272"/>
            <a:ext cx="292608" cy="292608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22199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1143000" y="220370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先识别版式再抽取的智能路由机制，提升异构表格适配能力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749808" y="2935224"/>
            <a:ext cx="292608" cy="292608"/>
          </a:xfrm>
          <a:prstGeom prst="ellipse">
            <a:avLst/>
          </a:prstGeom>
          <a:solidFill>
            <a:srgbClr val="2C6ECB"/>
          </a:solidFill>
          <a:ln w="12700">
            <a:solidFill>
              <a:srgbClr val="2C6EC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980944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1143000" y="29626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面向长表任务的完整性强约束设计，抑制漏提与截断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749808" y="3694176"/>
            <a:ext cx="292608" cy="292608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739896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1143000" y="37216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 + 格式 + 领域三层校验，避免把“输出结果”误当成“正确结果”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749808" y="4453128"/>
            <a:ext cx="292608" cy="292608"/>
          </a:xfrm>
          <a:prstGeom prst="ellipse">
            <a:avLst/>
          </a:prstGeom>
          <a:solidFill>
            <a:srgbClr val="2C6ECB"/>
          </a:solidFill>
          <a:ln w="12700">
            <a:solidFill>
              <a:srgbClr val="2C6EC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4498848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1143000" y="44805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错误驱动的闭环优化与模板自演化，使系统越用越稳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6309360" y="987552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73952" y="1097280"/>
            <a:ext cx="5020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</a:t>
            </a:r>
            <a:endParaRPr lang="en-US" sz="1420" dirty="0"/>
          </a:p>
        </p:txBody>
      </p:sp>
      <p:sp>
        <p:nvSpPr>
          <p:cNvPr id="27" name="Text 25"/>
          <p:cNvSpPr/>
          <p:nvPr/>
        </p:nvSpPr>
        <p:spPr>
          <a:xfrm>
            <a:off x="6473952" y="1353312"/>
            <a:ext cx="5020056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endParaRPr lang="en-US" sz="114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960489"/>
              </p:ext>
            </p:extLst>
          </p:nvPr>
        </p:nvGraphicFramePr>
        <p:xfrm>
          <a:off x="6537960" y="1426464"/>
          <a:ext cx="4480560" cy="1243584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1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成果类型</a:t>
                      </a:r>
                      <a:endParaRPr lang="en-US" sz="10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1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具体形式</a:t>
                      </a:r>
                      <a:endParaRPr lang="en-US" sz="10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系统原型</a:t>
                      </a:r>
                      <a:endParaRPr lang="en-US" sz="10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自动提取与校验流程工具链</a:t>
                      </a:r>
                      <a:endParaRPr lang="en-US" sz="10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模板库</a:t>
                      </a:r>
                      <a:endParaRPr lang="en-US" sz="10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可扩展的 Skill / 规则模板</a:t>
                      </a:r>
                      <a:endParaRPr lang="en-US" sz="10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数据库</a:t>
                      </a:r>
                      <a:endParaRPr lang="en-US" sz="10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 err="1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统一格式的</a:t>
                      </a:r>
                      <a:r>
                        <a:rPr lang="zh-CN" altLang="en-US" sz="101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关系</a:t>
                      </a:r>
                      <a:r>
                        <a:rPr lang="en-US" sz="1010" dirty="0" err="1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数据集</a:t>
                      </a:r>
                      <a:endParaRPr lang="en-US" sz="10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图表材料</a:t>
                      </a:r>
                      <a:endParaRPr lang="en-US" sz="10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技术路线图、闭环图、案例流程图</a:t>
                      </a:r>
                      <a:endParaRPr lang="en-US" sz="10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6309360" y="32461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EAF1FB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473952" y="3355848"/>
            <a:ext cx="5020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可评估指标（答辩时可补充）</a:t>
            </a:r>
            <a:endParaRPr lang="en-US" sz="1260" dirty="0"/>
          </a:p>
        </p:txBody>
      </p:sp>
      <p:sp>
        <p:nvSpPr>
          <p:cNvPr id="31" name="Text 28"/>
          <p:cNvSpPr/>
          <p:nvPr/>
        </p:nvSpPr>
        <p:spPr>
          <a:xfrm>
            <a:off x="6473952" y="3611880"/>
            <a:ext cx="502005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样品完整率、字段完整率、字段正确率、模板覆盖率、重试成功率。</a:t>
            </a:r>
            <a:endParaRPr lang="en-US" sz="1080" dirty="0"/>
          </a:p>
        </p:txBody>
      </p:sp>
      <p:sp>
        <p:nvSpPr>
          <p:cNvPr id="32" name="Shape 29"/>
          <p:cNvSpPr/>
          <p:nvPr/>
        </p:nvSpPr>
        <p:spPr>
          <a:xfrm>
            <a:off x="6309360" y="4553712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E7F7F4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473952" y="4663440"/>
            <a:ext cx="5020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b="1" dirty="0">
                <a:solidFill>
                  <a:srgbClr val="0E6C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系统价值</a:t>
            </a:r>
            <a:endParaRPr lang="en-US" sz="1260" dirty="0"/>
          </a:p>
        </p:txBody>
      </p:sp>
      <p:sp>
        <p:nvSpPr>
          <p:cNvPr id="34" name="Text 31"/>
          <p:cNvSpPr/>
          <p:nvPr/>
        </p:nvSpPr>
        <p:spPr>
          <a:xfrm>
            <a:off x="6473952" y="4919472"/>
            <a:ext cx="502005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既能服务数据库建设，也能沉淀出一套可迁移到其他地学表格场景的方法框架。</a:t>
            </a:r>
            <a:endParaRPr lang="en-US" sz="1080" dirty="0"/>
          </a:p>
        </p:txBody>
      </p:sp>
      <p:sp>
        <p:nvSpPr>
          <p:cNvPr id="35" name="Text 32"/>
          <p:cNvSpPr/>
          <p:nvPr/>
        </p:nvSpPr>
        <p:spPr>
          <a:xfrm>
            <a:off x="438912" y="6355080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F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这一页负责把前面的技术细节上升到“方法创新”和“成果形式”层面。</a:t>
            </a:r>
            <a:endParaRPr lang="en-US" sz="92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28232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793A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92608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研究计划与汇报结语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694944"/>
            <a:ext cx="868680" cy="73152"/>
          </a:xfrm>
          <a:prstGeom prst="roundRect">
            <a:avLst>
              <a:gd name="adj" fmla="val 37500"/>
            </a:avLst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566928"/>
            <a:ext cx="9052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最后一页建议用“实施安排 + 结论收束”结束，给老师一个完整闭环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0561320" y="347472"/>
            <a:ext cx="1115568" cy="256032"/>
          </a:xfrm>
          <a:prstGeom prst="roundRect">
            <a:avLst>
              <a:gd name="adj" fmla="val 28571"/>
            </a:avLst>
          </a:prstGeom>
          <a:solidFill>
            <a:srgbClr val="1A9D8F"/>
          </a:solidFill>
          <a:ln w="12700">
            <a:solidFill>
              <a:srgbClr val="1A9D8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61320" y="374904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</a:t>
            </a:r>
            <a:endParaRPr lang="en-US" sz="102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6446520" cy="219456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时间安排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主要任务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 1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第1–2个月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文献调研、需求分析与总体框架设计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 2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第3–4个月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完成解析、截图、Markdown 提取与跨页拼接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 3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第5–6个月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实现版式识别、模板路由与约束抽取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 4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第7–8个月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完成分层分类自动校验模块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 5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第9–10个月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实现闭环优化与模板自更新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 6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第11–12个月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23344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数据库构建、案例测试、论文写作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726680" y="1143000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EAF1FB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91272" y="1252728"/>
            <a:ext cx="3557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 1</a:t>
            </a:r>
            <a:endParaRPr lang="en-US" sz="1280" dirty="0"/>
          </a:p>
        </p:txBody>
      </p:sp>
      <p:sp>
        <p:nvSpPr>
          <p:cNvPr id="10" name="Text 7"/>
          <p:cNvSpPr/>
          <p:nvPr/>
        </p:nvSpPr>
        <p:spPr>
          <a:xfrm>
            <a:off x="7891272" y="1508760"/>
            <a:ext cx="355701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本研究构建的是“抽取 + 校验 + 优化 + 入库”一体化系统，而不是单点抽表脚本。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7726680" y="2423160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FF1E2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891272" y="2532888"/>
            <a:ext cx="3557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9A5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 2</a:t>
            </a:r>
            <a:endParaRPr lang="en-US" sz="1280" dirty="0"/>
          </a:p>
        </p:txBody>
      </p:sp>
      <p:sp>
        <p:nvSpPr>
          <p:cNvPr id="13" name="Text 10"/>
          <p:cNvSpPr/>
          <p:nvPr/>
        </p:nvSpPr>
        <p:spPr>
          <a:xfrm>
            <a:off x="7891272" y="2788920"/>
            <a:ext cx="355701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技术路线拆解为 6 个模块后，能够更清楚地回答每一步“为什么这么做、怎么做、做完得到什么”。</a:t>
            </a:r>
            <a:endParaRPr lang="en-US" sz="1080" dirty="0"/>
          </a:p>
        </p:txBody>
      </p:sp>
      <p:sp>
        <p:nvSpPr>
          <p:cNvPr id="7" name="Shape 11"/>
          <p:cNvSpPr/>
          <p:nvPr/>
        </p:nvSpPr>
        <p:spPr>
          <a:xfrm>
            <a:off x="7726680" y="3703320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E7F7F4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891272" y="3813048"/>
            <a:ext cx="3557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0E6C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 3</a:t>
            </a:r>
            <a:endParaRPr lang="en-US" sz="1280" dirty="0"/>
          </a:p>
        </p:txBody>
      </p:sp>
      <p:sp>
        <p:nvSpPr>
          <p:cNvPr id="16" name="Text 13"/>
          <p:cNvSpPr/>
          <p:nvPr/>
        </p:nvSpPr>
        <p:spPr>
          <a:xfrm>
            <a:off x="7891272" y="4069080"/>
            <a:ext cx="355701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分层校验与闭环优化是系统从“能用”走向“可靠”的关键。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7726680" y="5010912"/>
            <a:ext cx="3886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891272" y="5120640"/>
            <a:ext cx="3557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7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结束语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7891272" y="5376672"/>
            <a:ext cx="355701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3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以上为本研究的开题汇报，请老师批评指正。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38912" y="6355080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F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最后一页可以边看进度表边做总结，结束更稳。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28232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793A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1936</Words>
  <Application>Microsoft Office PowerPoint</Application>
  <PresentationFormat>宽屏</PresentationFormat>
  <Paragraphs>440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quote-cjk-patch</vt:lpstr>
      <vt:lpstr>等线</vt:lpstr>
      <vt:lpstr>Microsoft YaHei</vt:lpstr>
      <vt:lpstr>Arial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多模态驱动的全岩地球化学数据自动提取与校验系统研究（详细技术路线版）</dc:title>
  <dc:subject>多模态驱动的全岩地球化学数据自动提取与校验系统研究</dc:subject>
  <dc:creator>OpenAI</dc:creator>
  <cp:lastModifiedBy>storm media</cp:lastModifiedBy>
  <cp:revision>3</cp:revision>
  <dcterms:created xsi:type="dcterms:W3CDTF">2026-04-17T03:22:01Z</dcterms:created>
  <dcterms:modified xsi:type="dcterms:W3CDTF">2026-07-24T01:23:22Z</dcterms:modified>
</cp:coreProperties>
</file>